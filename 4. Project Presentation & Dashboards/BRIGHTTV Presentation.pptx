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64" r:id="rId4"/>
    <p:sldId id="258" r:id="rId5"/>
    <p:sldId id="260" r:id="rId6"/>
    <p:sldId id="263" r:id="rId7"/>
    <p:sldId id="259" r:id="rId8"/>
    <p:sldId id="261" r:id="rId9"/>
    <p:sldId id="262"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4581A61-9598-4861-967C-A6CD580076F4}">
          <p14:sldIdLst>
            <p14:sldId id="257"/>
            <p14:sldId id="256"/>
            <p14:sldId id="264"/>
            <p14:sldId id="258"/>
            <p14:sldId id="260"/>
            <p14:sldId id="263"/>
            <p14:sldId id="259"/>
            <p14:sldId id="261"/>
            <p14:sldId id="262"/>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23FC35-509A-4852-98B6-B6DCB0B09412}" v="97" dt="2026-08-10T20:12:49.9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tha Poswayo" userId="777d06b3bf0f9eac" providerId="LiveId" clId="{85CD8458-0236-4FE5-B5F1-B59FB5D2FC21}"/>
    <pc:docChg chg="undo custSel addSld modSld sldOrd modSection">
      <pc:chgData name="Anitha Poswayo" userId="777d06b3bf0f9eac" providerId="LiveId" clId="{85CD8458-0236-4FE5-B5F1-B59FB5D2FC21}" dt="2026-08-17T16:50:49.498" v="2473" actId="1076"/>
      <pc:docMkLst>
        <pc:docMk/>
      </pc:docMkLst>
      <pc:sldChg chg="modSp mod">
        <pc:chgData name="Anitha Poswayo" userId="777d06b3bf0f9eac" providerId="LiveId" clId="{85CD8458-0236-4FE5-B5F1-B59FB5D2FC21}" dt="2026-08-10T20:12:56.965" v="2447" actId="20577"/>
        <pc:sldMkLst>
          <pc:docMk/>
          <pc:sldMk cId="1355070876" sldId="256"/>
        </pc:sldMkLst>
        <pc:graphicFrameChg chg="mod modGraphic">
          <ac:chgData name="Anitha Poswayo" userId="777d06b3bf0f9eac" providerId="LiveId" clId="{85CD8458-0236-4FE5-B5F1-B59FB5D2FC21}" dt="2026-08-10T20:12:56.965" v="2447" actId="20577"/>
          <ac:graphicFrameMkLst>
            <pc:docMk/>
            <pc:sldMk cId="1355070876" sldId="256"/>
            <ac:graphicFrameMk id="7" creationId="{30BD15BD-EF3F-8046-8DF4-6E9A0D933782}"/>
          </ac:graphicFrameMkLst>
        </pc:graphicFrameChg>
      </pc:sldChg>
      <pc:sldChg chg="modSp mod">
        <pc:chgData name="Anitha Poswayo" userId="777d06b3bf0f9eac" providerId="LiveId" clId="{85CD8458-0236-4FE5-B5F1-B59FB5D2FC21}" dt="2026-08-10T20:15:25.569" v="2464" actId="20577"/>
        <pc:sldMkLst>
          <pc:docMk/>
          <pc:sldMk cId="3440355303" sldId="258"/>
        </pc:sldMkLst>
        <pc:spChg chg="mod">
          <ac:chgData name="Anitha Poswayo" userId="777d06b3bf0f9eac" providerId="LiveId" clId="{85CD8458-0236-4FE5-B5F1-B59FB5D2FC21}" dt="2026-08-10T20:15:25.569" v="2464" actId="20577"/>
          <ac:spMkLst>
            <pc:docMk/>
            <pc:sldMk cId="3440355303" sldId="258"/>
            <ac:spMk id="9" creationId="{721CD5A1-61A3-F4F5-9596-2390EB9297F8}"/>
          </ac:spMkLst>
        </pc:spChg>
      </pc:sldChg>
      <pc:sldChg chg="mod">
        <pc:chgData name="Anitha Poswayo" userId="777d06b3bf0f9eac" providerId="LiveId" clId="{85CD8458-0236-4FE5-B5F1-B59FB5D2FC21}" dt="2026-08-10T19:14:02.198" v="1845" actId="27918"/>
        <pc:sldMkLst>
          <pc:docMk/>
          <pc:sldMk cId="3503776933" sldId="259"/>
        </pc:sldMkLst>
      </pc:sldChg>
      <pc:sldChg chg="mod">
        <pc:chgData name="Anitha Poswayo" userId="777d06b3bf0f9eac" providerId="LiveId" clId="{85CD8458-0236-4FE5-B5F1-B59FB5D2FC21}" dt="2026-08-10T19:14:02.198" v="1846" actId="27918"/>
        <pc:sldMkLst>
          <pc:docMk/>
          <pc:sldMk cId="1028330736" sldId="260"/>
        </pc:sldMkLst>
      </pc:sldChg>
      <pc:sldChg chg="addSp delSp modSp new mod">
        <pc:chgData name="Anitha Poswayo" userId="777d06b3bf0f9eac" providerId="LiveId" clId="{85CD8458-0236-4FE5-B5F1-B59FB5D2FC21}" dt="2026-08-10T19:14:02.213" v="1847" actId="27918"/>
        <pc:sldMkLst>
          <pc:docMk/>
          <pc:sldMk cId="2554981336" sldId="261"/>
        </pc:sldMkLst>
        <pc:spChg chg="mod">
          <ac:chgData name="Anitha Poswayo" userId="777d06b3bf0f9eac" providerId="LiveId" clId="{85CD8458-0236-4FE5-B5F1-B59FB5D2FC21}" dt="2026-08-10T18:08:56.873" v="46" actId="108"/>
          <ac:spMkLst>
            <pc:docMk/>
            <pc:sldMk cId="2554981336" sldId="261"/>
            <ac:spMk id="2" creationId="{D4367251-11DA-49F9-FD27-23BA488D4E23}"/>
          </ac:spMkLst>
        </pc:spChg>
        <pc:spChg chg="mod">
          <ac:chgData name="Anitha Poswayo" userId="777d06b3bf0f9eac" providerId="LiveId" clId="{85CD8458-0236-4FE5-B5F1-B59FB5D2FC21}" dt="2026-08-10T18:07:28.649" v="34" actId="14100"/>
          <ac:spMkLst>
            <pc:docMk/>
            <pc:sldMk cId="2554981336" sldId="261"/>
            <ac:spMk id="4" creationId="{1F3CC209-189A-B700-2798-14F2466E95DB}"/>
          </ac:spMkLst>
        </pc:spChg>
      </pc:sldChg>
      <pc:sldChg chg="addSp delSp modSp new mod ord modClrScheme chgLayout">
        <pc:chgData name="Anitha Poswayo" userId="777d06b3bf0f9eac" providerId="LiveId" clId="{85CD8458-0236-4FE5-B5F1-B59FB5D2FC21}" dt="2026-08-10T19:14:02.229" v="1848" actId="27918"/>
        <pc:sldMkLst>
          <pc:docMk/>
          <pc:sldMk cId="2544773766" sldId="262"/>
        </pc:sldMkLst>
        <pc:spChg chg="mod ord">
          <ac:chgData name="Anitha Poswayo" userId="777d06b3bf0f9eac" providerId="LiveId" clId="{85CD8458-0236-4FE5-B5F1-B59FB5D2FC21}" dt="2026-08-10T18:35:31.790" v="982" actId="700"/>
          <ac:spMkLst>
            <pc:docMk/>
            <pc:sldMk cId="2544773766" sldId="262"/>
            <ac:spMk id="2" creationId="{626D4C38-4073-E79B-F2B2-4001AC7D4753}"/>
          </ac:spMkLst>
        </pc:spChg>
        <pc:spChg chg="add del mod ord">
          <ac:chgData name="Anitha Poswayo" userId="777d06b3bf0f9eac" providerId="LiveId" clId="{85CD8458-0236-4FE5-B5F1-B59FB5D2FC21}" dt="2026-08-10T18:35:31.790" v="982" actId="700"/>
          <ac:spMkLst>
            <pc:docMk/>
            <pc:sldMk cId="2544773766" sldId="262"/>
            <ac:spMk id="4" creationId="{55C9F6A0-5DDE-74D2-A4AC-9F6E7BB72B68}"/>
          </ac:spMkLst>
        </pc:spChg>
        <pc:graphicFrameChg chg="add mod ord">
          <ac:chgData name="Anitha Poswayo" userId="777d06b3bf0f9eac" providerId="LiveId" clId="{85CD8458-0236-4FE5-B5F1-B59FB5D2FC21}" dt="2026-08-10T18:35:31.790" v="982" actId="700"/>
          <ac:graphicFrameMkLst>
            <pc:docMk/>
            <pc:sldMk cId="2544773766" sldId="262"/>
            <ac:graphicFrameMk id="8" creationId="{FCC75625-3C6F-4D17-9216-924B80F92544}"/>
          </ac:graphicFrameMkLst>
        </pc:graphicFrameChg>
      </pc:sldChg>
      <pc:sldChg chg="addSp delSp modSp new mod">
        <pc:chgData name="Anitha Poswayo" userId="777d06b3bf0f9eac" providerId="LiveId" clId="{85CD8458-0236-4FE5-B5F1-B59FB5D2FC21}" dt="2026-08-10T20:15:47.362" v="2467" actId="20577"/>
        <pc:sldMkLst>
          <pc:docMk/>
          <pc:sldMk cId="3593349001" sldId="263"/>
        </pc:sldMkLst>
        <pc:spChg chg="mod">
          <ac:chgData name="Anitha Poswayo" userId="777d06b3bf0f9eac" providerId="LiveId" clId="{85CD8458-0236-4FE5-B5F1-B59FB5D2FC21}" dt="2026-08-10T18:22:07.949" v="465" actId="20577"/>
          <ac:spMkLst>
            <pc:docMk/>
            <pc:sldMk cId="3593349001" sldId="263"/>
            <ac:spMk id="2" creationId="{656783C8-6705-24A8-6986-3A5B712FDC8E}"/>
          </ac:spMkLst>
        </pc:spChg>
        <pc:spChg chg="mod">
          <ac:chgData name="Anitha Poswayo" userId="777d06b3bf0f9eac" providerId="LiveId" clId="{85CD8458-0236-4FE5-B5F1-B59FB5D2FC21}" dt="2026-08-10T20:15:47.362" v="2467" actId="20577"/>
          <ac:spMkLst>
            <pc:docMk/>
            <pc:sldMk cId="3593349001" sldId="263"/>
            <ac:spMk id="4" creationId="{7691B48E-DBA8-DB9B-FCE3-7D2001337C71}"/>
          </ac:spMkLst>
        </pc:spChg>
        <pc:graphicFrameChg chg="add mod">
          <ac:chgData name="Anitha Poswayo" userId="777d06b3bf0f9eac" providerId="LiveId" clId="{85CD8458-0236-4FE5-B5F1-B59FB5D2FC21}" dt="2026-08-10T18:25:26.435" v="562" actId="14100"/>
          <ac:graphicFrameMkLst>
            <pc:docMk/>
            <pc:sldMk cId="3593349001" sldId="263"/>
            <ac:graphicFrameMk id="8" creationId="{650C6672-C4A1-87E5-F965-5679D1984803}"/>
          </ac:graphicFrameMkLst>
        </pc:graphicFrameChg>
      </pc:sldChg>
      <pc:sldChg chg="addSp delSp modSp new mod setBg">
        <pc:chgData name="Anitha Poswayo" userId="777d06b3bf0f9eac" providerId="LiveId" clId="{85CD8458-0236-4FE5-B5F1-B59FB5D2FC21}" dt="2026-08-17T16:50:49.498" v="2473" actId="1076"/>
        <pc:sldMkLst>
          <pc:docMk/>
          <pc:sldMk cId="3647022382" sldId="264"/>
        </pc:sldMkLst>
        <pc:spChg chg="mod">
          <ac:chgData name="Anitha Poswayo" userId="777d06b3bf0f9eac" providerId="LiveId" clId="{85CD8458-0236-4FE5-B5F1-B59FB5D2FC21}" dt="2026-08-17T16:50:49.498" v="2473" actId="1076"/>
          <ac:spMkLst>
            <pc:docMk/>
            <pc:sldMk cId="3647022382" sldId="264"/>
            <ac:spMk id="2" creationId="{FAF9C776-7EE4-481A-3858-AD6CA1ADF2D6}"/>
          </ac:spMkLst>
        </pc:spChg>
        <pc:spChg chg="add">
          <ac:chgData name="Anitha Poswayo" userId="777d06b3bf0f9eac" providerId="LiveId" clId="{85CD8458-0236-4FE5-B5F1-B59FB5D2FC21}" dt="2026-08-10T19:36:50.344" v="2336" actId="26606"/>
          <ac:spMkLst>
            <pc:docMk/>
            <pc:sldMk cId="3647022382" sldId="264"/>
            <ac:spMk id="32" creationId="{4FFBEE45-F140-49D5-85EA-C78C24340B23}"/>
          </ac:spMkLst>
        </pc:spChg>
        <pc:graphicFrameChg chg="add modGraphic">
          <ac:chgData name="Anitha Poswayo" userId="777d06b3bf0f9eac" providerId="LiveId" clId="{85CD8458-0236-4FE5-B5F1-B59FB5D2FC21}" dt="2026-08-10T20:16:51.325" v="2472" actId="20577"/>
          <ac:graphicFrameMkLst>
            <pc:docMk/>
            <pc:sldMk cId="3647022382" sldId="264"/>
            <ac:graphicFrameMk id="33" creationId="{A30F6E57-3D8E-B383-BB9F-26087DA759B3}"/>
          </ac:graphicFrameMkLst>
        </pc:graphicFrameChg>
      </pc:sldChg>
      <pc:sldChg chg="modSp new mod">
        <pc:chgData name="Anitha Poswayo" userId="777d06b3bf0f9eac" providerId="LiveId" clId="{85CD8458-0236-4FE5-B5F1-B59FB5D2FC21}" dt="2026-08-10T20:13:17.793" v="2448" actId="20577"/>
        <pc:sldMkLst>
          <pc:docMk/>
          <pc:sldMk cId="1482581448" sldId="265"/>
        </pc:sldMkLst>
        <pc:spChg chg="mod">
          <ac:chgData name="Anitha Poswayo" userId="777d06b3bf0f9eac" providerId="LiveId" clId="{85CD8458-0236-4FE5-B5F1-B59FB5D2FC21}" dt="2026-08-10T19:43:44.062" v="2401" actId="20577"/>
          <ac:spMkLst>
            <pc:docMk/>
            <pc:sldMk cId="1482581448" sldId="265"/>
            <ac:spMk id="2" creationId="{1AEBACDC-DE35-F1F4-AB28-C8D19ADD3E34}"/>
          </ac:spMkLst>
        </pc:spChg>
        <pc:spChg chg="mod">
          <ac:chgData name="Anitha Poswayo" userId="777d06b3bf0f9eac" providerId="LiveId" clId="{85CD8458-0236-4FE5-B5F1-B59FB5D2FC21}" dt="2026-08-10T20:13:17.793" v="2448" actId="20577"/>
          <ac:spMkLst>
            <pc:docMk/>
            <pc:sldMk cId="1482581448" sldId="265"/>
            <ac:spMk id="3" creationId="{62009872-DEF3-665F-C184-91AC6589E2D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hifi\Downloads\BRIGHT%20TV.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ifi\Downloads\BRIGHT%20TV.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ifi\Downloads\BRIGHT%20TV.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ifi\Downloads\BRIGHT%20TV.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AppData\Roaming\Microsoft\Excel\BRIGHT%20TV%20(version%201).xlsb"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hifi\Downloads\BRIGHT%20TV.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TV.xlsx]Pivot Tabless!PivotTable17</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Vieweship</a:t>
            </a:r>
            <a:r>
              <a:rPr lang="en-US" baseline="0"/>
              <a:t> by Month</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4108997051525141E-2"/>
          <c:y val="0.15319444444444447"/>
          <c:w val="0.90079023905795563"/>
          <c:h val="0.64432159521726451"/>
        </c:manualLayout>
      </c:layout>
      <c:lineChart>
        <c:grouping val="standard"/>
        <c:varyColors val="0"/>
        <c:ser>
          <c:idx val="0"/>
          <c:order val="0"/>
          <c:tx>
            <c:strRef>
              <c:f>'Pivot Tabless'!$B$9</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'Pivot Tabless'!$A$10:$A$16</c:f>
              <c:multiLvlStrCache>
                <c:ptCount val="3"/>
                <c:lvl>
                  <c:pt idx="0">
                    <c:v>Jan</c:v>
                  </c:pt>
                  <c:pt idx="1">
                    <c:v>Feb</c:v>
                  </c:pt>
                  <c:pt idx="2">
                    <c:v>Mar</c:v>
                  </c:pt>
                </c:lvl>
                <c:lvl>
                  <c:pt idx="0">
                    <c:v>1</c:v>
                  </c:pt>
                  <c:pt idx="1">
                    <c:v>2</c:v>
                  </c:pt>
                  <c:pt idx="2">
                    <c:v>3</c:v>
                  </c:pt>
                </c:lvl>
              </c:multiLvlStrCache>
            </c:multiLvlStrRef>
          </c:cat>
          <c:val>
            <c:numRef>
              <c:f>'Pivot Tabless'!$B$10:$B$16</c:f>
              <c:numCache>
                <c:formatCode>General</c:formatCode>
                <c:ptCount val="3"/>
                <c:pt idx="0">
                  <c:v>2203</c:v>
                </c:pt>
                <c:pt idx="1">
                  <c:v>2976</c:v>
                </c:pt>
                <c:pt idx="2">
                  <c:v>4821</c:v>
                </c:pt>
              </c:numCache>
            </c:numRef>
          </c:val>
          <c:smooth val="0"/>
          <c:extLst>
            <c:ext xmlns:c16="http://schemas.microsoft.com/office/drawing/2014/chart" uri="{C3380CC4-5D6E-409C-BE32-E72D297353CC}">
              <c16:uniqueId val="{00000000-0EC1-42AC-B571-2DFAA33ACBB4}"/>
            </c:ext>
          </c:extLst>
        </c:ser>
        <c:dLbls>
          <c:dLblPos val="t"/>
          <c:showLegendKey val="0"/>
          <c:showVal val="1"/>
          <c:showCatName val="0"/>
          <c:showSerName val="0"/>
          <c:showPercent val="0"/>
          <c:showBubbleSize val="0"/>
        </c:dLbls>
        <c:smooth val="0"/>
        <c:axId val="237056832"/>
        <c:axId val="237060752"/>
      </c:lineChart>
      <c:catAx>
        <c:axId val="237056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060752"/>
        <c:crosses val="autoZero"/>
        <c:auto val="1"/>
        <c:lblAlgn val="ctr"/>
        <c:lblOffset val="100"/>
        <c:noMultiLvlLbl val="0"/>
      </c:catAx>
      <c:valAx>
        <c:axId val="23706075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0568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TV.xlsx]Pivot Tabless!PivotTable28</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Viwership</a:t>
            </a:r>
            <a:r>
              <a:rPr lang="en-ZA" baseline="0"/>
              <a:t> by Time of Day</a:t>
            </a:r>
            <a:endParaRPr lang="en-ZA"/>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Tabless'!$B$74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Tabless'!$A$75:$A$79</c:f>
              <c:strCache>
                <c:ptCount val="4"/>
                <c:pt idx="0">
                  <c:v>01.Midnight</c:v>
                </c:pt>
                <c:pt idx="1">
                  <c:v>02.Morning</c:v>
                </c:pt>
                <c:pt idx="2">
                  <c:v>03.Afternoon</c:v>
                </c:pt>
                <c:pt idx="3">
                  <c:v>04.Evening</c:v>
                </c:pt>
              </c:strCache>
            </c:strRef>
          </c:cat>
          <c:val>
            <c:numRef>
              <c:f>'Pivot Tabless'!$B$75:$B$79</c:f>
              <c:numCache>
                <c:formatCode>General</c:formatCode>
                <c:ptCount val="4"/>
                <c:pt idx="0">
                  <c:v>756</c:v>
                </c:pt>
                <c:pt idx="1">
                  <c:v>3085</c:v>
                </c:pt>
                <c:pt idx="2">
                  <c:v>3160</c:v>
                </c:pt>
                <c:pt idx="3">
                  <c:v>2999</c:v>
                </c:pt>
              </c:numCache>
            </c:numRef>
          </c:val>
          <c:extLst>
            <c:ext xmlns:c16="http://schemas.microsoft.com/office/drawing/2014/chart" uri="{C3380CC4-5D6E-409C-BE32-E72D297353CC}">
              <c16:uniqueId val="{00000000-DF56-4FE6-A075-7249DE2746F5}"/>
            </c:ext>
          </c:extLst>
        </c:ser>
        <c:dLbls>
          <c:dLblPos val="outEnd"/>
          <c:showLegendKey val="0"/>
          <c:showVal val="1"/>
          <c:showCatName val="0"/>
          <c:showSerName val="0"/>
          <c:showPercent val="0"/>
          <c:showBubbleSize val="0"/>
        </c:dLbls>
        <c:gapWidth val="219"/>
        <c:overlap val="-27"/>
        <c:axId val="237055656"/>
        <c:axId val="237059576"/>
      </c:barChart>
      <c:catAx>
        <c:axId val="237055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059576"/>
        <c:crosses val="autoZero"/>
        <c:auto val="1"/>
        <c:lblAlgn val="ctr"/>
        <c:lblOffset val="100"/>
        <c:noMultiLvlLbl val="0"/>
      </c:catAx>
      <c:valAx>
        <c:axId val="2370595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0556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TV.xlsx]Sheet1!PivotTable1</c:name>
    <c:fmtId val="9"/>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Sheet1!$A$4:$A$14</c:f>
              <c:multiLvlStrCache>
                <c:ptCount val="8"/>
                <c:lvl>
                  <c:pt idx="0">
                    <c:v>black</c:v>
                  </c:pt>
                  <c:pt idx="1">
                    <c:v>coloured</c:v>
                  </c:pt>
                  <c:pt idx="2">
                    <c:v>indian_asian</c:v>
                  </c:pt>
                  <c:pt idx="3">
                    <c:v>white</c:v>
                  </c:pt>
                  <c:pt idx="4">
                    <c:v>black</c:v>
                  </c:pt>
                  <c:pt idx="5">
                    <c:v>coloured</c:v>
                  </c:pt>
                  <c:pt idx="6">
                    <c:v>indian_asian</c:v>
                  </c:pt>
                  <c:pt idx="7">
                    <c:v>white</c:v>
                  </c:pt>
                </c:lvl>
                <c:lvl>
                  <c:pt idx="0">
                    <c:v>female</c:v>
                  </c:pt>
                  <c:pt idx="4">
                    <c:v>male</c:v>
                  </c:pt>
                </c:lvl>
              </c:multiLvlStrCache>
            </c:multiLvlStrRef>
          </c:cat>
          <c:val>
            <c:numRef>
              <c:f>Sheet1!$B$4:$B$14</c:f>
              <c:numCache>
                <c:formatCode>General</c:formatCode>
                <c:ptCount val="8"/>
                <c:pt idx="0">
                  <c:v>501</c:v>
                </c:pt>
                <c:pt idx="1">
                  <c:v>135</c:v>
                </c:pt>
                <c:pt idx="2">
                  <c:v>92</c:v>
                </c:pt>
                <c:pt idx="3">
                  <c:v>115</c:v>
                </c:pt>
                <c:pt idx="4">
                  <c:v>3830</c:v>
                </c:pt>
                <c:pt idx="5">
                  <c:v>1498</c:v>
                </c:pt>
                <c:pt idx="6">
                  <c:v>1483</c:v>
                </c:pt>
                <c:pt idx="7">
                  <c:v>1177</c:v>
                </c:pt>
              </c:numCache>
            </c:numRef>
          </c:val>
          <c:extLst>
            <c:ext xmlns:c16="http://schemas.microsoft.com/office/drawing/2014/chart" uri="{C3380CC4-5D6E-409C-BE32-E72D297353CC}">
              <c16:uniqueId val="{00000000-CEF8-4780-AC92-36036B51AA4E}"/>
            </c:ext>
          </c:extLst>
        </c:ser>
        <c:dLbls>
          <c:dLblPos val="outEnd"/>
          <c:showLegendKey val="0"/>
          <c:showVal val="1"/>
          <c:showCatName val="0"/>
          <c:showSerName val="0"/>
          <c:showPercent val="0"/>
          <c:showBubbleSize val="0"/>
        </c:dLbls>
        <c:gapWidth val="182"/>
        <c:axId val="237057224"/>
        <c:axId val="237057616"/>
      </c:barChart>
      <c:catAx>
        <c:axId val="2370572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057616"/>
        <c:crosses val="autoZero"/>
        <c:auto val="1"/>
        <c:lblAlgn val="ctr"/>
        <c:lblOffset val="100"/>
        <c:noMultiLvlLbl val="0"/>
      </c:catAx>
      <c:valAx>
        <c:axId val="23705761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0572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TV.xlsx]Pivot Tabless!PivotTable19</c:name>
    <c:fmtId val="6"/>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Weekday VS Weekend</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pivotFmt>
      <c:pivotFmt>
        <c:idx val="11"/>
        <c:spPr>
          <a:solidFill>
            <a:schemeClr val="accent2"/>
          </a:solidFill>
          <a:ln w="19050">
            <a:solidFill>
              <a:schemeClr val="lt1"/>
            </a:solidFill>
          </a:ln>
          <a:effectLst/>
        </c:spPr>
      </c:pivotFmt>
      <c:pivotFmt>
        <c:idx val="12"/>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pivotFmt>
      <c:pivotFmt>
        <c:idx val="14"/>
        <c:spPr>
          <a:solidFill>
            <a:schemeClr val="accent2"/>
          </a:solidFill>
          <a:ln w="19050">
            <a:solidFill>
              <a:schemeClr val="lt1"/>
            </a:solidFill>
          </a:ln>
          <a:effectLst/>
        </c:spPr>
      </c:pivotFmt>
      <c:pivotFmt>
        <c:idx val="15"/>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pivotFmt>
      <c:pivotFmt>
        <c:idx val="17"/>
        <c:spPr>
          <a:solidFill>
            <a:schemeClr val="accent2"/>
          </a:solidFill>
          <a:ln w="19050">
            <a:solidFill>
              <a:schemeClr val="lt1"/>
            </a:solidFill>
          </a:ln>
          <a:effectLst/>
        </c:spPr>
      </c:pivotFmt>
    </c:pivotFmts>
    <c:plotArea>
      <c:layout/>
      <c:pieChart>
        <c:varyColors val="1"/>
        <c:ser>
          <c:idx val="0"/>
          <c:order val="0"/>
          <c:tx>
            <c:strRef>
              <c:f>'Pivot Tabless'!$K$9</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5639-49FC-A277-F56105687A06}"/>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5639-49FC-A277-F56105687A06}"/>
              </c:ext>
            </c:extLst>
          </c:dPt>
          <c:dLbls>
            <c:dLbl>
              <c:idx val="0"/>
              <c:dLblPos val="ct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639-49FC-A277-F56105687A06}"/>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Tabless'!$J$10:$J$12</c:f>
              <c:strCache>
                <c:ptCount val="2"/>
                <c:pt idx="0">
                  <c:v>weekday</c:v>
                </c:pt>
                <c:pt idx="1">
                  <c:v>weekend</c:v>
                </c:pt>
              </c:strCache>
            </c:strRef>
          </c:cat>
          <c:val>
            <c:numRef>
              <c:f>'Pivot Tabless'!$K$10:$K$12</c:f>
              <c:numCache>
                <c:formatCode>General</c:formatCode>
                <c:ptCount val="2"/>
                <c:pt idx="0">
                  <c:v>6947</c:v>
                </c:pt>
                <c:pt idx="1">
                  <c:v>3053</c:v>
                </c:pt>
              </c:numCache>
            </c:numRef>
          </c:val>
          <c:extLst>
            <c:ext xmlns:c16="http://schemas.microsoft.com/office/drawing/2014/chart" uri="{C3380CC4-5D6E-409C-BE32-E72D297353CC}">
              <c16:uniqueId val="{00000004-5639-49FC-A277-F56105687A06}"/>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82111856329418531"/>
          <c:y val="0.39773674212391685"/>
          <c:w val="0.13902631537853288"/>
          <c:h val="0.19603303627527902"/>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TV (version 1).xlsb]Pivot Tabless!PivotTable1</c:name>
    <c:fmtId val="18"/>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s>
    <c:plotArea>
      <c:layout/>
      <c:barChart>
        <c:barDir val="col"/>
        <c:grouping val="clustered"/>
        <c:varyColors val="0"/>
        <c:ser>
          <c:idx val="0"/>
          <c:order val="0"/>
          <c:tx>
            <c:strRef>
              <c:f>'Pivot Tabless'!$G$92:$G$93</c:f>
              <c:strCache>
                <c:ptCount val="1"/>
                <c:pt idx="0">
                  <c:v>weekday</c:v>
                </c:pt>
              </c:strCache>
            </c:strRef>
          </c:tx>
          <c:spPr>
            <a:solidFill>
              <a:schemeClr val="accent1"/>
            </a:solidFill>
            <a:ln>
              <a:noFill/>
            </a:ln>
            <a:effectLst/>
          </c:spPr>
          <c:invertIfNegative val="0"/>
          <c:cat>
            <c:strRef>
              <c:f>'Pivot Tabless'!$F$94:$F$111</c:f>
              <c:strCache>
                <c:ptCount val="17"/>
                <c:pt idx="0">
                  <c:v>Africa Magic</c:v>
                </c:pt>
                <c:pt idx="1">
                  <c:v>Boomerang</c:v>
                </c:pt>
                <c:pt idx="2">
                  <c:v>Break in transmission</c:v>
                </c:pt>
                <c:pt idx="3">
                  <c:v>Cartoon Network</c:v>
                </c:pt>
                <c:pt idx="4">
                  <c:v>Channel O</c:v>
                </c:pt>
                <c:pt idx="5">
                  <c:v>CNN</c:v>
                </c:pt>
                <c:pt idx="6">
                  <c:v>E! Entertainment</c:v>
                </c:pt>
                <c:pt idx="7">
                  <c:v>ICC Cricket World Cup 2011</c:v>
                </c:pt>
                <c:pt idx="8">
                  <c:v>kykNET</c:v>
                </c:pt>
                <c:pt idx="9">
                  <c:v>Live Events</c:v>
                </c:pt>
                <c:pt idx="10">
                  <c:v>MK</c:v>
                </c:pt>
                <c:pt idx="11">
                  <c:v>M-Net</c:v>
                </c:pt>
                <c:pt idx="12">
                  <c:v>SawSee</c:v>
                </c:pt>
                <c:pt idx="13">
                  <c:v>SuperSport Blitz</c:v>
                </c:pt>
                <c:pt idx="14">
                  <c:v>Trace TV</c:v>
                </c:pt>
                <c:pt idx="15">
                  <c:v>Vuzu</c:v>
                </c:pt>
                <c:pt idx="16">
                  <c:v>Wimbledon</c:v>
                </c:pt>
              </c:strCache>
            </c:strRef>
          </c:cat>
          <c:val>
            <c:numRef>
              <c:f>'Pivot Tabless'!$G$94:$G$111</c:f>
              <c:numCache>
                <c:formatCode>General</c:formatCode>
                <c:ptCount val="17"/>
                <c:pt idx="0">
                  <c:v>585</c:v>
                </c:pt>
                <c:pt idx="1">
                  <c:v>498</c:v>
                </c:pt>
                <c:pt idx="2">
                  <c:v>41</c:v>
                </c:pt>
                <c:pt idx="3">
                  <c:v>521</c:v>
                </c:pt>
                <c:pt idx="4">
                  <c:v>777</c:v>
                </c:pt>
                <c:pt idx="5">
                  <c:v>365</c:v>
                </c:pt>
                <c:pt idx="6">
                  <c:v>239</c:v>
                </c:pt>
                <c:pt idx="7">
                  <c:v>1045</c:v>
                </c:pt>
                <c:pt idx="8">
                  <c:v>33</c:v>
                </c:pt>
                <c:pt idx="9">
                  <c:v>1193</c:v>
                </c:pt>
                <c:pt idx="10">
                  <c:v>23</c:v>
                </c:pt>
                <c:pt idx="11">
                  <c:v>81</c:v>
                </c:pt>
                <c:pt idx="12">
                  <c:v>175</c:v>
                </c:pt>
                <c:pt idx="13">
                  <c:v>638</c:v>
                </c:pt>
                <c:pt idx="14">
                  <c:v>661</c:v>
                </c:pt>
                <c:pt idx="15">
                  <c:v>72</c:v>
                </c:pt>
              </c:numCache>
            </c:numRef>
          </c:val>
          <c:extLst>
            <c:ext xmlns:c16="http://schemas.microsoft.com/office/drawing/2014/chart" uri="{C3380CC4-5D6E-409C-BE32-E72D297353CC}">
              <c16:uniqueId val="{00000000-B165-4CFF-94D1-AB9E5C033A36}"/>
            </c:ext>
          </c:extLst>
        </c:ser>
        <c:ser>
          <c:idx val="1"/>
          <c:order val="1"/>
          <c:tx>
            <c:strRef>
              <c:f>'Pivot Tabless'!$H$92:$H$93</c:f>
              <c:strCache>
                <c:ptCount val="1"/>
                <c:pt idx="0">
                  <c:v>weekend</c:v>
                </c:pt>
              </c:strCache>
            </c:strRef>
          </c:tx>
          <c:spPr>
            <a:solidFill>
              <a:schemeClr val="accent2"/>
            </a:solidFill>
            <a:ln>
              <a:noFill/>
            </a:ln>
            <a:effectLst/>
          </c:spPr>
          <c:invertIfNegative val="0"/>
          <c:cat>
            <c:strRef>
              <c:f>'Pivot Tabless'!$F$94:$F$111</c:f>
              <c:strCache>
                <c:ptCount val="17"/>
                <c:pt idx="0">
                  <c:v>Africa Magic</c:v>
                </c:pt>
                <c:pt idx="1">
                  <c:v>Boomerang</c:v>
                </c:pt>
                <c:pt idx="2">
                  <c:v>Break in transmission</c:v>
                </c:pt>
                <c:pt idx="3">
                  <c:v>Cartoon Network</c:v>
                </c:pt>
                <c:pt idx="4">
                  <c:v>Channel O</c:v>
                </c:pt>
                <c:pt idx="5">
                  <c:v>CNN</c:v>
                </c:pt>
                <c:pt idx="6">
                  <c:v>E! Entertainment</c:v>
                </c:pt>
                <c:pt idx="7">
                  <c:v>ICC Cricket World Cup 2011</c:v>
                </c:pt>
                <c:pt idx="8">
                  <c:v>kykNET</c:v>
                </c:pt>
                <c:pt idx="9">
                  <c:v>Live Events</c:v>
                </c:pt>
                <c:pt idx="10">
                  <c:v>MK</c:v>
                </c:pt>
                <c:pt idx="11">
                  <c:v>M-Net</c:v>
                </c:pt>
                <c:pt idx="12">
                  <c:v>SawSee</c:v>
                </c:pt>
                <c:pt idx="13">
                  <c:v>SuperSport Blitz</c:v>
                </c:pt>
                <c:pt idx="14">
                  <c:v>Trace TV</c:v>
                </c:pt>
                <c:pt idx="15">
                  <c:v>Vuzu</c:v>
                </c:pt>
                <c:pt idx="16">
                  <c:v>Wimbledon</c:v>
                </c:pt>
              </c:strCache>
            </c:strRef>
          </c:cat>
          <c:val>
            <c:numRef>
              <c:f>'Pivot Tabless'!$H$94:$H$111</c:f>
              <c:numCache>
                <c:formatCode>General</c:formatCode>
                <c:ptCount val="17"/>
                <c:pt idx="0">
                  <c:v>274</c:v>
                </c:pt>
                <c:pt idx="1">
                  <c:v>216</c:v>
                </c:pt>
                <c:pt idx="2">
                  <c:v>25</c:v>
                </c:pt>
                <c:pt idx="3">
                  <c:v>272</c:v>
                </c:pt>
                <c:pt idx="4">
                  <c:v>273</c:v>
                </c:pt>
                <c:pt idx="5">
                  <c:v>140</c:v>
                </c:pt>
                <c:pt idx="6">
                  <c:v>128</c:v>
                </c:pt>
                <c:pt idx="7">
                  <c:v>420</c:v>
                </c:pt>
                <c:pt idx="8">
                  <c:v>12</c:v>
                </c:pt>
                <c:pt idx="9">
                  <c:v>578</c:v>
                </c:pt>
                <c:pt idx="10">
                  <c:v>9</c:v>
                </c:pt>
                <c:pt idx="11">
                  <c:v>35</c:v>
                </c:pt>
                <c:pt idx="12">
                  <c:v>80</c:v>
                </c:pt>
                <c:pt idx="13">
                  <c:v>258</c:v>
                </c:pt>
                <c:pt idx="14">
                  <c:v>291</c:v>
                </c:pt>
                <c:pt idx="15">
                  <c:v>39</c:v>
                </c:pt>
                <c:pt idx="16">
                  <c:v>3</c:v>
                </c:pt>
              </c:numCache>
            </c:numRef>
          </c:val>
          <c:extLst>
            <c:ext xmlns:c16="http://schemas.microsoft.com/office/drawing/2014/chart" uri="{C3380CC4-5D6E-409C-BE32-E72D297353CC}">
              <c16:uniqueId val="{00000001-B165-4CFF-94D1-AB9E5C033A36}"/>
            </c:ext>
          </c:extLst>
        </c:ser>
        <c:dLbls>
          <c:showLegendKey val="0"/>
          <c:showVal val="0"/>
          <c:showCatName val="0"/>
          <c:showSerName val="0"/>
          <c:showPercent val="0"/>
          <c:showBubbleSize val="0"/>
        </c:dLbls>
        <c:gapWidth val="219"/>
        <c:overlap val="-27"/>
        <c:axId val="302763200"/>
        <c:axId val="302763984"/>
      </c:barChart>
      <c:catAx>
        <c:axId val="302763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2763984"/>
        <c:crosses val="autoZero"/>
        <c:auto val="1"/>
        <c:lblAlgn val="ctr"/>
        <c:lblOffset val="100"/>
        <c:noMultiLvlLbl val="0"/>
      </c:catAx>
      <c:valAx>
        <c:axId val="30276398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27632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TV.xlsx]Pivot Tabless!PivotTable27</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Vieweship</a:t>
            </a:r>
            <a:r>
              <a:rPr lang="en-US" baseline="0"/>
              <a:t> b y Region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'Pivot Tabless'!$K$62</c:f>
              <c:strCache>
                <c:ptCount val="1"/>
                <c:pt idx="0">
                  <c:v>Total</c:v>
                </c:pt>
              </c:strCache>
            </c:strRef>
          </c:tx>
          <c:spPr>
            <a:solidFill>
              <a:schemeClr val="accent1"/>
            </a:solidFill>
            <a:ln>
              <a:noFill/>
            </a:ln>
            <a:effectLst/>
          </c:spP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Tabless'!$J$63:$J$72</c:f>
              <c:strCache>
                <c:ptCount val="9"/>
                <c:pt idx="0">
                  <c:v>Eastern Cape</c:v>
                </c:pt>
                <c:pt idx="1">
                  <c:v>Free State</c:v>
                </c:pt>
                <c:pt idx="2">
                  <c:v>Gauteng</c:v>
                </c:pt>
                <c:pt idx="3">
                  <c:v>Kwazulu Natal</c:v>
                </c:pt>
                <c:pt idx="4">
                  <c:v>Limpopo</c:v>
                </c:pt>
                <c:pt idx="5">
                  <c:v>Mpumalanga</c:v>
                </c:pt>
                <c:pt idx="6">
                  <c:v>North West</c:v>
                </c:pt>
                <c:pt idx="7">
                  <c:v>Northern Cape</c:v>
                </c:pt>
                <c:pt idx="8">
                  <c:v>Western Cape</c:v>
                </c:pt>
              </c:strCache>
            </c:strRef>
          </c:cat>
          <c:val>
            <c:numRef>
              <c:f>'Pivot Tabless'!$K$63:$K$72</c:f>
              <c:numCache>
                <c:formatCode>General</c:formatCode>
                <c:ptCount val="9"/>
                <c:pt idx="0">
                  <c:v>690</c:v>
                </c:pt>
                <c:pt idx="1">
                  <c:v>292</c:v>
                </c:pt>
                <c:pt idx="2">
                  <c:v>3654</c:v>
                </c:pt>
                <c:pt idx="3">
                  <c:v>1001</c:v>
                </c:pt>
                <c:pt idx="4">
                  <c:v>763</c:v>
                </c:pt>
                <c:pt idx="5">
                  <c:v>918</c:v>
                </c:pt>
                <c:pt idx="6">
                  <c:v>344</c:v>
                </c:pt>
                <c:pt idx="7">
                  <c:v>230</c:v>
                </c:pt>
                <c:pt idx="8">
                  <c:v>1845</c:v>
                </c:pt>
              </c:numCache>
            </c:numRef>
          </c:val>
          <c:extLst>
            <c:ext xmlns:c16="http://schemas.microsoft.com/office/drawing/2014/chart" uri="{C3380CC4-5D6E-409C-BE32-E72D297353CC}">
              <c16:uniqueId val="{00000000-476D-463F-9D08-E1D9F3779246}"/>
            </c:ext>
          </c:extLst>
        </c:ser>
        <c:dLbls>
          <c:showLegendKey val="0"/>
          <c:showVal val="1"/>
          <c:showCatName val="0"/>
          <c:showSerName val="0"/>
          <c:showPercent val="0"/>
          <c:showBubbleSize val="0"/>
        </c:dLbls>
        <c:axId val="237058792"/>
        <c:axId val="237059184"/>
      </c:areaChart>
      <c:catAx>
        <c:axId val="2370587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059184"/>
        <c:crosses val="autoZero"/>
        <c:auto val="1"/>
        <c:lblAlgn val="ctr"/>
        <c:lblOffset val="100"/>
        <c:noMultiLvlLbl val="0"/>
      </c:catAx>
      <c:valAx>
        <c:axId val="23705918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058792"/>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7D3B90-6CAC-4CB8-BE74-403186C45846}" type="doc">
      <dgm:prSet loTypeId="urn:microsoft.com/office/officeart/2018/2/layout/IconCircleList" loCatId="icon" qsTypeId="urn:microsoft.com/office/officeart/2005/8/quickstyle/simple1" qsCatId="simple" csTypeId="urn:microsoft.com/office/officeart/2018/5/colors/Iconchunking_neutralicon_colorful5" csCatId="colorful" phldr="1"/>
      <dgm:spPr/>
      <dgm:t>
        <a:bodyPr/>
        <a:lstStyle/>
        <a:p>
          <a:endParaRPr lang="en-US"/>
        </a:p>
      </dgm:t>
    </dgm:pt>
    <dgm:pt modelId="{AF96E7E4-F7A5-4ACD-8F7C-EE3DF3A7DA49}">
      <dgm:prSet/>
      <dgm:spPr/>
      <dgm:t>
        <a:bodyPr/>
        <a:lstStyle/>
        <a:p>
          <a:r>
            <a:rPr lang="en-US" dirty="0"/>
            <a:t>The data has 10001 rows in total.</a:t>
          </a:r>
        </a:p>
      </dgm:t>
    </dgm:pt>
    <dgm:pt modelId="{08BF7C37-D53F-471A-9CD3-6670BE942722}" type="parTrans" cxnId="{C55B1A58-5296-4EEB-B334-98EE4260E840}">
      <dgm:prSet/>
      <dgm:spPr/>
      <dgm:t>
        <a:bodyPr/>
        <a:lstStyle/>
        <a:p>
          <a:endParaRPr lang="en-US"/>
        </a:p>
      </dgm:t>
    </dgm:pt>
    <dgm:pt modelId="{4B60CF61-93F7-46FD-B24D-659E262EBC14}" type="sibTrans" cxnId="{C55B1A58-5296-4EEB-B334-98EE4260E840}">
      <dgm:prSet/>
      <dgm:spPr/>
      <dgm:t>
        <a:bodyPr/>
        <a:lstStyle/>
        <a:p>
          <a:endParaRPr lang="en-US"/>
        </a:p>
      </dgm:t>
    </dgm:pt>
    <dgm:pt modelId="{C81403E1-2F01-41C4-8669-C12FF3100D48}">
      <dgm:prSet/>
      <dgm:spPr/>
      <dgm:t>
        <a:bodyPr/>
        <a:lstStyle/>
        <a:p>
          <a:r>
            <a:rPr lang="en-US" dirty="0"/>
            <a:t>It runs from January – March 2026</a:t>
          </a:r>
        </a:p>
      </dgm:t>
    </dgm:pt>
    <dgm:pt modelId="{D922925E-977A-41A7-9877-092E2BC71241}" type="parTrans" cxnId="{C72E947D-4582-444F-89CB-FEC3EA0E0FED}">
      <dgm:prSet/>
      <dgm:spPr/>
      <dgm:t>
        <a:bodyPr/>
        <a:lstStyle/>
        <a:p>
          <a:endParaRPr lang="en-US"/>
        </a:p>
      </dgm:t>
    </dgm:pt>
    <dgm:pt modelId="{4392ED5E-C88C-4913-8E56-0090E1BBB29E}" type="sibTrans" cxnId="{C72E947D-4582-444F-89CB-FEC3EA0E0FED}">
      <dgm:prSet/>
      <dgm:spPr/>
      <dgm:t>
        <a:bodyPr/>
        <a:lstStyle/>
        <a:p>
          <a:endParaRPr lang="en-US"/>
        </a:p>
      </dgm:t>
    </dgm:pt>
    <dgm:pt modelId="{884EC2E4-9A08-48DB-A3CD-B717BBFFF2E2}">
      <dgm:prSet/>
      <dgm:spPr/>
      <dgm:t>
        <a:bodyPr/>
        <a:lstStyle/>
        <a:p>
          <a:r>
            <a:rPr lang="en-US"/>
            <a:t>10000 Total Session.</a:t>
          </a:r>
        </a:p>
      </dgm:t>
    </dgm:pt>
    <dgm:pt modelId="{630AC20D-5857-4858-A826-20FED67F5AAB}" type="parTrans" cxnId="{F754E7DB-1458-4065-8FE6-EAEC31A5D1A9}">
      <dgm:prSet/>
      <dgm:spPr/>
      <dgm:t>
        <a:bodyPr/>
        <a:lstStyle/>
        <a:p>
          <a:endParaRPr lang="en-US"/>
        </a:p>
      </dgm:t>
    </dgm:pt>
    <dgm:pt modelId="{8A175E03-4EC9-4298-A740-DCD412444D89}" type="sibTrans" cxnId="{F754E7DB-1458-4065-8FE6-EAEC31A5D1A9}">
      <dgm:prSet/>
      <dgm:spPr/>
      <dgm:t>
        <a:bodyPr/>
        <a:lstStyle/>
        <a:p>
          <a:endParaRPr lang="en-US"/>
        </a:p>
      </dgm:t>
    </dgm:pt>
    <dgm:pt modelId="{563BE991-9316-451C-88A8-6F835277CCE8}">
      <dgm:prSet/>
      <dgm:spPr/>
      <dgm:t>
        <a:bodyPr/>
        <a:lstStyle/>
        <a:p>
          <a:r>
            <a:rPr lang="en-US"/>
            <a:t>4386 Subscribers</a:t>
          </a:r>
        </a:p>
      </dgm:t>
    </dgm:pt>
    <dgm:pt modelId="{8B3E6DE1-E2CD-42BE-A766-7CE075B0DD64}" type="parTrans" cxnId="{F6A32130-55C7-4A9C-9E07-35AC6C581371}">
      <dgm:prSet/>
      <dgm:spPr/>
      <dgm:t>
        <a:bodyPr/>
        <a:lstStyle/>
        <a:p>
          <a:endParaRPr lang="en-US"/>
        </a:p>
      </dgm:t>
    </dgm:pt>
    <dgm:pt modelId="{9301E4EA-DB41-4ABF-A689-FF807C4D6928}" type="sibTrans" cxnId="{F6A32130-55C7-4A9C-9E07-35AC6C581371}">
      <dgm:prSet/>
      <dgm:spPr/>
      <dgm:t>
        <a:bodyPr/>
        <a:lstStyle/>
        <a:p>
          <a:endParaRPr lang="en-US"/>
        </a:p>
      </dgm:t>
    </dgm:pt>
    <dgm:pt modelId="{7CF9ADFE-D375-47A5-AD2D-BBD438542440}">
      <dgm:prSet/>
      <dgm:spPr/>
      <dgm:t>
        <a:bodyPr/>
        <a:lstStyle/>
        <a:p>
          <a:r>
            <a:rPr lang="en-US"/>
            <a:t>Average duration of 0.15</a:t>
          </a:r>
        </a:p>
      </dgm:t>
    </dgm:pt>
    <dgm:pt modelId="{95C7B6D4-81F0-49BC-B03A-135CB31BCBE8}" type="parTrans" cxnId="{8F512DA1-17E9-4D23-9E58-48FEAC408518}">
      <dgm:prSet/>
      <dgm:spPr/>
      <dgm:t>
        <a:bodyPr/>
        <a:lstStyle/>
        <a:p>
          <a:endParaRPr lang="en-US"/>
        </a:p>
      </dgm:t>
    </dgm:pt>
    <dgm:pt modelId="{7B1CD919-7ED4-42D0-8B05-375BA38CEDFF}" type="sibTrans" cxnId="{8F512DA1-17E9-4D23-9E58-48FEAC408518}">
      <dgm:prSet/>
      <dgm:spPr/>
      <dgm:t>
        <a:bodyPr/>
        <a:lstStyle/>
        <a:p>
          <a:endParaRPr lang="en-US"/>
        </a:p>
      </dgm:t>
    </dgm:pt>
    <dgm:pt modelId="{98D5CD62-1FAA-4223-BA03-E2E01E9C8A75}">
      <dgm:prSet/>
      <dgm:spPr/>
      <dgm:t>
        <a:bodyPr/>
        <a:lstStyle/>
        <a:p>
          <a:r>
            <a:rPr lang="en-US" dirty="0"/>
            <a:t>Total Watch time of </a:t>
          </a:r>
          <a:r>
            <a:rPr lang="en-ZA" b="0" i="0" u="none" dirty="0"/>
            <a:t>5482803</a:t>
          </a:r>
          <a:r>
            <a:rPr lang="en-ZA" dirty="0"/>
            <a:t> in seconds </a:t>
          </a:r>
          <a:endParaRPr lang="en-US" dirty="0"/>
        </a:p>
      </dgm:t>
    </dgm:pt>
    <dgm:pt modelId="{16FEDB22-96C0-414E-B17C-EB32BE5B594E}" type="parTrans" cxnId="{33085B91-FC33-48B3-A5C4-0AE5B6AA9EA9}">
      <dgm:prSet/>
      <dgm:spPr/>
      <dgm:t>
        <a:bodyPr/>
        <a:lstStyle/>
        <a:p>
          <a:endParaRPr lang="en-US"/>
        </a:p>
      </dgm:t>
    </dgm:pt>
    <dgm:pt modelId="{CCB14B7E-EAC5-444A-82A2-05EF169DAE4E}" type="sibTrans" cxnId="{33085B91-FC33-48B3-A5C4-0AE5B6AA9EA9}">
      <dgm:prSet/>
      <dgm:spPr/>
      <dgm:t>
        <a:bodyPr/>
        <a:lstStyle/>
        <a:p>
          <a:endParaRPr lang="en-US"/>
        </a:p>
      </dgm:t>
    </dgm:pt>
    <dgm:pt modelId="{6C4DCF7E-C641-4C6C-B7D4-B1D970C03D0D}" type="pres">
      <dgm:prSet presAssocID="{417D3B90-6CAC-4CB8-BE74-403186C45846}" presName="root" presStyleCnt="0">
        <dgm:presLayoutVars>
          <dgm:dir/>
          <dgm:resizeHandles val="exact"/>
        </dgm:presLayoutVars>
      </dgm:prSet>
      <dgm:spPr/>
    </dgm:pt>
    <dgm:pt modelId="{F82BDA71-ADD3-41C4-B2E6-F4F532A37305}" type="pres">
      <dgm:prSet presAssocID="{417D3B90-6CAC-4CB8-BE74-403186C45846}" presName="container" presStyleCnt="0">
        <dgm:presLayoutVars>
          <dgm:dir/>
          <dgm:resizeHandles val="exact"/>
        </dgm:presLayoutVars>
      </dgm:prSet>
      <dgm:spPr/>
    </dgm:pt>
    <dgm:pt modelId="{B849EE1C-DB23-4E39-BDE8-997511C4982B}" type="pres">
      <dgm:prSet presAssocID="{AF96E7E4-F7A5-4ACD-8F7C-EE3DF3A7DA49}" presName="compNode" presStyleCnt="0"/>
      <dgm:spPr/>
    </dgm:pt>
    <dgm:pt modelId="{DA2854BB-8237-4EA3-BCF9-4020F5C526C6}" type="pres">
      <dgm:prSet presAssocID="{AF96E7E4-F7A5-4ACD-8F7C-EE3DF3A7DA49}" presName="iconBgRect" presStyleLbl="bgShp" presStyleIdx="0" presStyleCnt="6"/>
      <dgm:spPr/>
    </dgm:pt>
    <dgm:pt modelId="{5CC79E5F-5835-4E4E-9813-B4725990ACEA}" type="pres">
      <dgm:prSet presAssocID="{AF96E7E4-F7A5-4ACD-8F7C-EE3DF3A7DA49}"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ble"/>
        </a:ext>
      </dgm:extLst>
    </dgm:pt>
    <dgm:pt modelId="{303EE2F2-7ADD-4288-8395-690C1AF15B29}" type="pres">
      <dgm:prSet presAssocID="{AF96E7E4-F7A5-4ACD-8F7C-EE3DF3A7DA49}" presName="spaceRect" presStyleCnt="0"/>
      <dgm:spPr/>
    </dgm:pt>
    <dgm:pt modelId="{2BEE7495-C101-4C05-849F-75B4526C18B5}" type="pres">
      <dgm:prSet presAssocID="{AF96E7E4-F7A5-4ACD-8F7C-EE3DF3A7DA49}" presName="textRect" presStyleLbl="revTx" presStyleIdx="0" presStyleCnt="6">
        <dgm:presLayoutVars>
          <dgm:chMax val="1"/>
          <dgm:chPref val="1"/>
        </dgm:presLayoutVars>
      </dgm:prSet>
      <dgm:spPr/>
    </dgm:pt>
    <dgm:pt modelId="{7715C025-700F-45FF-93D0-1881451986FB}" type="pres">
      <dgm:prSet presAssocID="{4B60CF61-93F7-46FD-B24D-659E262EBC14}" presName="sibTrans" presStyleLbl="sibTrans2D1" presStyleIdx="0" presStyleCnt="0"/>
      <dgm:spPr/>
    </dgm:pt>
    <dgm:pt modelId="{4E3DE93C-3C8E-4555-AD17-39121B346881}" type="pres">
      <dgm:prSet presAssocID="{C81403E1-2F01-41C4-8669-C12FF3100D48}" presName="compNode" presStyleCnt="0"/>
      <dgm:spPr/>
    </dgm:pt>
    <dgm:pt modelId="{2C0D7027-B76B-4BDD-AA4A-8668427CEFB1}" type="pres">
      <dgm:prSet presAssocID="{C81403E1-2F01-41C4-8669-C12FF3100D48}" presName="iconBgRect" presStyleLbl="bgShp" presStyleIdx="1" presStyleCnt="6"/>
      <dgm:spPr/>
    </dgm:pt>
    <dgm:pt modelId="{5E9F99DF-422B-40BA-ADA0-C00C3990F501}" type="pres">
      <dgm:prSet presAssocID="{C81403E1-2F01-41C4-8669-C12FF3100D48}"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4623D27-1BF7-4D1F-8900-F9F0844DE495}" type="pres">
      <dgm:prSet presAssocID="{C81403E1-2F01-41C4-8669-C12FF3100D48}" presName="spaceRect" presStyleCnt="0"/>
      <dgm:spPr/>
    </dgm:pt>
    <dgm:pt modelId="{294AF4AC-B6A4-4CFF-8F5D-17D181BEDA79}" type="pres">
      <dgm:prSet presAssocID="{C81403E1-2F01-41C4-8669-C12FF3100D48}" presName="textRect" presStyleLbl="revTx" presStyleIdx="1" presStyleCnt="6">
        <dgm:presLayoutVars>
          <dgm:chMax val="1"/>
          <dgm:chPref val="1"/>
        </dgm:presLayoutVars>
      </dgm:prSet>
      <dgm:spPr/>
    </dgm:pt>
    <dgm:pt modelId="{A8E72DD5-DFB8-4B33-8C81-7CB5EECEFA43}" type="pres">
      <dgm:prSet presAssocID="{4392ED5E-C88C-4913-8E56-0090E1BBB29E}" presName="sibTrans" presStyleLbl="sibTrans2D1" presStyleIdx="0" presStyleCnt="0"/>
      <dgm:spPr/>
    </dgm:pt>
    <dgm:pt modelId="{D4E2E76F-70C7-4DB5-958A-7F3221979C0D}" type="pres">
      <dgm:prSet presAssocID="{884EC2E4-9A08-48DB-A3CD-B717BBFFF2E2}" presName="compNode" presStyleCnt="0"/>
      <dgm:spPr/>
    </dgm:pt>
    <dgm:pt modelId="{E5DCF8F5-4B0D-4CFB-9414-9839828F999F}" type="pres">
      <dgm:prSet presAssocID="{884EC2E4-9A08-48DB-A3CD-B717BBFFF2E2}" presName="iconBgRect" presStyleLbl="bgShp" presStyleIdx="2" presStyleCnt="6"/>
      <dgm:spPr/>
    </dgm:pt>
    <dgm:pt modelId="{0EAB7B43-6C92-4C43-9C35-9D92F7912054}" type="pres">
      <dgm:prSet presAssocID="{884EC2E4-9A08-48DB-A3CD-B717BBFFF2E2}"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s"/>
        </a:ext>
      </dgm:extLst>
    </dgm:pt>
    <dgm:pt modelId="{19415DE9-C0F7-44B1-9C62-D316DCEE2B07}" type="pres">
      <dgm:prSet presAssocID="{884EC2E4-9A08-48DB-A3CD-B717BBFFF2E2}" presName="spaceRect" presStyleCnt="0"/>
      <dgm:spPr/>
    </dgm:pt>
    <dgm:pt modelId="{458BDA82-F32A-46F1-A482-14E4FD9082D0}" type="pres">
      <dgm:prSet presAssocID="{884EC2E4-9A08-48DB-A3CD-B717BBFFF2E2}" presName="textRect" presStyleLbl="revTx" presStyleIdx="2" presStyleCnt="6">
        <dgm:presLayoutVars>
          <dgm:chMax val="1"/>
          <dgm:chPref val="1"/>
        </dgm:presLayoutVars>
      </dgm:prSet>
      <dgm:spPr/>
    </dgm:pt>
    <dgm:pt modelId="{F4F3F3EB-5AFA-4FA1-ADF5-023025754D12}" type="pres">
      <dgm:prSet presAssocID="{8A175E03-4EC9-4298-A740-DCD412444D89}" presName="sibTrans" presStyleLbl="sibTrans2D1" presStyleIdx="0" presStyleCnt="0"/>
      <dgm:spPr/>
    </dgm:pt>
    <dgm:pt modelId="{C17EB79A-3D69-4712-B948-857ACF2FB7AF}" type="pres">
      <dgm:prSet presAssocID="{563BE991-9316-451C-88A8-6F835277CCE8}" presName="compNode" presStyleCnt="0"/>
      <dgm:spPr/>
    </dgm:pt>
    <dgm:pt modelId="{CEBD2EEC-2451-46AB-B1C9-87FC563A2F1D}" type="pres">
      <dgm:prSet presAssocID="{563BE991-9316-451C-88A8-6F835277CCE8}" presName="iconBgRect" presStyleLbl="bgShp" presStyleIdx="3" presStyleCnt="6"/>
      <dgm:spPr/>
    </dgm:pt>
    <dgm:pt modelId="{3FC9EEA1-0814-4B06-82A3-A67C149E698E}" type="pres">
      <dgm:prSet presAssocID="{563BE991-9316-451C-88A8-6F835277CCE8}"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F41CD715-15EF-44C7-9931-FBCC13C785E4}" type="pres">
      <dgm:prSet presAssocID="{563BE991-9316-451C-88A8-6F835277CCE8}" presName="spaceRect" presStyleCnt="0"/>
      <dgm:spPr/>
    </dgm:pt>
    <dgm:pt modelId="{4865D336-1EA7-417C-9C8C-E2813518116A}" type="pres">
      <dgm:prSet presAssocID="{563BE991-9316-451C-88A8-6F835277CCE8}" presName="textRect" presStyleLbl="revTx" presStyleIdx="3" presStyleCnt="6">
        <dgm:presLayoutVars>
          <dgm:chMax val="1"/>
          <dgm:chPref val="1"/>
        </dgm:presLayoutVars>
      </dgm:prSet>
      <dgm:spPr/>
    </dgm:pt>
    <dgm:pt modelId="{CE33C0D1-1B83-4BD0-95B8-92D6904B9CF2}" type="pres">
      <dgm:prSet presAssocID="{9301E4EA-DB41-4ABF-A689-FF807C4D6928}" presName="sibTrans" presStyleLbl="sibTrans2D1" presStyleIdx="0" presStyleCnt="0"/>
      <dgm:spPr/>
    </dgm:pt>
    <dgm:pt modelId="{64A903CF-9860-44C1-ADF6-A5BD59DAE923}" type="pres">
      <dgm:prSet presAssocID="{7CF9ADFE-D375-47A5-AD2D-BBD438542440}" presName="compNode" presStyleCnt="0"/>
      <dgm:spPr/>
    </dgm:pt>
    <dgm:pt modelId="{F7E68677-7D7F-42E5-9D7B-34A4B20927E5}" type="pres">
      <dgm:prSet presAssocID="{7CF9ADFE-D375-47A5-AD2D-BBD438542440}" presName="iconBgRect" presStyleLbl="bgShp" presStyleIdx="4" presStyleCnt="6"/>
      <dgm:spPr/>
    </dgm:pt>
    <dgm:pt modelId="{24946B79-AD98-49B9-910A-2ADA306B3495}" type="pres">
      <dgm:prSet presAssocID="{7CF9ADFE-D375-47A5-AD2D-BBD438542440}"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opwatch"/>
        </a:ext>
      </dgm:extLst>
    </dgm:pt>
    <dgm:pt modelId="{E07469FB-F938-4D77-8226-BED4359760E3}" type="pres">
      <dgm:prSet presAssocID="{7CF9ADFE-D375-47A5-AD2D-BBD438542440}" presName="spaceRect" presStyleCnt="0"/>
      <dgm:spPr/>
    </dgm:pt>
    <dgm:pt modelId="{71103444-AC1D-4E71-BAB4-2B51A0E12D21}" type="pres">
      <dgm:prSet presAssocID="{7CF9ADFE-D375-47A5-AD2D-BBD438542440}" presName="textRect" presStyleLbl="revTx" presStyleIdx="4" presStyleCnt="6">
        <dgm:presLayoutVars>
          <dgm:chMax val="1"/>
          <dgm:chPref val="1"/>
        </dgm:presLayoutVars>
      </dgm:prSet>
      <dgm:spPr/>
    </dgm:pt>
    <dgm:pt modelId="{98ECA9AE-17F0-4401-B9F2-524C9C98932E}" type="pres">
      <dgm:prSet presAssocID="{7B1CD919-7ED4-42D0-8B05-375BA38CEDFF}" presName="sibTrans" presStyleLbl="sibTrans2D1" presStyleIdx="0" presStyleCnt="0"/>
      <dgm:spPr/>
    </dgm:pt>
    <dgm:pt modelId="{6A0348E6-029D-4BF9-BAD7-73FF1DA64741}" type="pres">
      <dgm:prSet presAssocID="{98D5CD62-1FAA-4223-BA03-E2E01E9C8A75}" presName="compNode" presStyleCnt="0"/>
      <dgm:spPr/>
    </dgm:pt>
    <dgm:pt modelId="{4BEDC417-EA18-4404-84A7-9EF3B33334E9}" type="pres">
      <dgm:prSet presAssocID="{98D5CD62-1FAA-4223-BA03-E2E01E9C8A75}" presName="iconBgRect" presStyleLbl="bgShp" presStyleIdx="5" presStyleCnt="6"/>
      <dgm:spPr/>
    </dgm:pt>
    <dgm:pt modelId="{C3EB8C6A-657C-4FBA-8A6C-561446CE47B8}" type="pres">
      <dgm:prSet presAssocID="{98D5CD62-1FAA-4223-BA03-E2E01E9C8A75}"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ck"/>
        </a:ext>
      </dgm:extLst>
    </dgm:pt>
    <dgm:pt modelId="{A533829A-E07F-4818-9584-2217C14D5B37}" type="pres">
      <dgm:prSet presAssocID="{98D5CD62-1FAA-4223-BA03-E2E01E9C8A75}" presName="spaceRect" presStyleCnt="0"/>
      <dgm:spPr/>
    </dgm:pt>
    <dgm:pt modelId="{AD84CCA8-20D5-4E0F-8A32-126D4F380788}" type="pres">
      <dgm:prSet presAssocID="{98D5CD62-1FAA-4223-BA03-E2E01E9C8A75}" presName="textRect" presStyleLbl="revTx" presStyleIdx="5" presStyleCnt="6">
        <dgm:presLayoutVars>
          <dgm:chMax val="1"/>
          <dgm:chPref val="1"/>
        </dgm:presLayoutVars>
      </dgm:prSet>
      <dgm:spPr/>
    </dgm:pt>
  </dgm:ptLst>
  <dgm:cxnLst>
    <dgm:cxn modelId="{F6A32130-55C7-4A9C-9E07-35AC6C581371}" srcId="{417D3B90-6CAC-4CB8-BE74-403186C45846}" destId="{563BE991-9316-451C-88A8-6F835277CCE8}" srcOrd="3" destOrd="0" parTransId="{8B3E6DE1-E2CD-42BE-A766-7CE075B0DD64}" sibTransId="{9301E4EA-DB41-4ABF-A689-FF807C4D6928}"/>
    <dgm:cxn modelId="{A7D13032-AEF2-4D24-91AF-19FB9156F638}" type="presOf" srcId="{4392ED5E-C88C-4913-8E56-0090E1BBB29E}" destId="{A8E72DD5-DFB8-4B33-8C81-7CB5EECEFA43}" srcOrd="0" destOrd="0" presId="urn:microsoft.com/office/officeart/2018/2/layout/IconCircleList"/>
    <dgm:cxn modelId="{D8185E32-C0FF-4141-8316-33C7C3DAFC77}" type="presOf" srcId="{AF96E7E4-F7A5-4ACD-8F7C-EE3DF3A7DA49}" destId="{2BEE7495-C101-4C05-849F-75B4526C18B5}" srcOrd="0" destOrd="0" presId="urn:microsoft.com/office/officeart/2018/2/layout/IconCircleList"/>
    <dgm:cxn modelId="{F3622751-8BE5-43A6-93B3-D6E4603D706D}" type="presOf" srcId="{563BE991-9316-451C-88A8-6F835277CCE8}" destId="{4865D336-1EA7-417C-9C8C-E2813518116A}" srcOrd="0" destOrd="0" presId="urn:microsoft.com/office/officeart/2018/2/layout/IconCircleList"/>
    <dgm:cxn modelId="{5A7BC171-4E96-480E-952D-0C30F59DF0F1}" type="presOf" srcId="{8A175E03-4EC9-4298-A740-DCD412444D89}" destId="{F4F3F3EB-5AFA-4FA1-ADF5-023025754D12}" srcOrd="0" destOrd="0" presId="urn:microsoft.com/office/officeart/2018/2/layout/IconCircleList"/>
    <dgm:cxn modelId="{C55B1A58-5296-4EEB-B334-98EE4260E840}" srcId="{417D3B90-6CAC-4CB8-BE74-403186C45846}" destId="{AF96E7E4-F7A5-4ACD-8F7C-EE3DF3A7DA49}" srcOrd="0" destOrd="0" parTransId="{08BF7C37-D53F-471A-9CD3-6670BE942722}" sibTransId="{4B60CF61-93F7-46FD-B24D-659E262EBC14}"/>
    <dgm:cxn modelId="{C72E947D-4582-444F-89CB-FEC3EA0E0FED}" srcId="{417D3B90-6CAC-4CB8-BE74-403186C45846}" destId="{C81403E1-2F01-41C4-8669-C12FF3100D48}" srcOrd="1" destOrd="0" parTransId="{D922925E-977A-41A7-9877-092E2BC71241}" sibTransId="{4392ED5E-C88C-4913-8E56-0090E1BBB29E}"/>
    <dgm:cxn modelId="{AEB3257F-8B91-4089-93E0-A40E3D80A8F3}" type="presOf" srcId="{9301E4EA-DB41-4ABF-A689-FF807C4D6928}" destId="{CE33C0D1-1B83-4BD0-95B8-92D6904B9CF2}" srcOrd="0" destOrd="0" presId="urn:microsoft.com/office/officeart/2018/2/layout/IconCircleList"/>
    <dgm:cxn modelId="{33085B91-FC33-48B3-A5C4-0AE5B6AA9EA9}" srcId="{417D3B90-6CAC-4CB8-BE74-403186C45846}" destId="{98D5CD62-1FAA-4223-BA03-E2E01E9C8A75}" srcOrd="5" destOrd="0" parTransId="{16FEDB22-96C0-414E-B17C-EB32BE5B594E}" sibTransId="{CCB14B7E-EAC5-444A-82A2-05EF169DAE4E}"/>
    <dgm:cxn modelId="{1761519D-C048-476A-8C08-8496F46EBCCC}" type="presOf" srcId="{884EC2E4-9A08-48DB-A3CD-B717BBFFF2E2}" destId="{458BDA82-F32A-46F1-A482-14E4FD9082D0}" srcOrd="0" destOrd="0" presId="urn:microsoft.com/office/officeart/2018/2/layout/IconCircleList"/>
    <dgm:cxn modelId="{8F512DA1-17E9-4D23-9E58-48FEAC408518}" srcId="{417D3B90-6CAC-4CB8-BE74-403186C45846}" destId="{7CF9ADFE-D375-47A5-AD2D-BBD438542440}" srcOrd="4" destOrd="0" parTransId="{95C7B6D4-81F0-49BC-B03A-135CB31BCBE8}" sibTransId="{7B1CD919-7ED4-42D0-8B05-375BA38CEDFF}"/>
    <dgm:cxn modelId="{4CF5B2A5-E829-4801-A4F1-5CA28EF0FAAE}" type="presOf" srcId="{417D3B90-6CAC-4CB8-BE74-403186C45846}" destId="{6C4DCF7E-C641-4C6C-B7D4-B1D970C03D0D}" srcOrd="0" destOrd="0" presId="urn:microsoft.com/office/officeart/2018/2/layout/IconCircleList"/>
    <dgm:cxn modelId="{3F15E5A9-AF26-45D3-8F08-52DEA34BF5C1}" type="presOf" srcId="{C81403E1-2F01-41C4-8669-C12FF3100D48}" destId="{294AF4AC-B6A4-4CFF-8F5D-17D181BEDA79}" srcOrd="0" destOrd="0" presId="urn:microsoft.com/office/officeart/2018/2/layout/IconCircleList"/>
    <dgm:cxn modelId="{5A21A5D1-B601-44D9-B71A-0AB783704417}" type="presOf" srcId="{98D5CD62-1FAA-4223-BA03-E2E01E9C8A75}" destId="{AD84CCA8-20D5-4E0F-8A32-126D4F380788}" srcOrd="0" destOrd="0" presId="urn:microsoft.com/office/officeart/2018/2/layout/IconCircleList"/>
    <dgm:cxn modelId="{385299D7-7E9A-4467-BA94-75081071E74E}" type="presOf" srcId="{4B60CF61-93F7-46FD-B24D-659E262EBC14}" destId="{7715C025-700F-45FF-93D0-1881451986FB}" srcOrd="0" destOrd="0" presId="urn:microsoft.com/office/officeart/2018/2/layout/IconCircleList"/>
    <dgm:cxn modelId="{40FBF7D7-1E0C-410E-B5CD-4BD615CD983C}" type="presOf" srcId="{7CF9ADFE-D375-47A5-AD2D-BBD438542440}" destId="{71103444-AC1D-4E71-BAB4-2B51A0E12D21}" srcOrd="0" destOrd="0" presId="urn:microsoft.com/office/officeart/2018/2/layout/IconCircleList"/>
    <dgm:cxn modelId="{F754E7DB-1458-4065-8FE6-EAEC31A5D1A9}" srcId="{417D3B90-6CAC-4CB8-BE74-403186C45846}" destId="{884EC2E4-9A08-48DB-A3CD-B717BBFFF2E2}" srcOrd="2" destOrd="0" parTransId="{630AC20D-5857-4858-A826-20FED67F5AAB}" sibTransId="{8A175E03-4EC9-4298-A740-DCD412444D89}"/>
    <dgm:cxn modelId="{DD9A5FFB-1CFF-419A-9A97-F3452E08CB1C}" type="presOf" srcId="{7B1CD919-7ED4-42D0-8B05-375BA38CEDFF}" destId="{98ECA9AE-17F0-4401-B9F2-524C9C98932E}" srcOrd="0" destOrd="0" presId="urn:microsoft.com/office/officeart/2018/2/layout/IconCircleList"/>
    <dgm:cxn modelId="{1042470E-B1C5-4530-90F9-B80B2814E6B1}" type="presParOf" srcId="{6C4DCF7E-C641-4C6C-B7D4-B1D970C03D0D}" destId="{F82BDA71-ADD3-41C4-B2E6-F4F532A37305}" srcOrd="0" destOrd="0" presId="urn:microsoft.com/office/officeart/2018/2/layout/IconCircleList"/>
    <dgm:cxn modelId="{9E6294B5-0238-4CD6-8712-20B445CE2054}" type="presParOf" srcId="{F82BDA71-ADD3-41C4-B2E6-F4F532A37305}" destId="{B849EE1C-DB23-4E39-BDE8-997511C4982B}" srcOrd="0" destOrd="0" presId="urn:microsoft.com/office/officeart/2018/2/layout/IconCircleList"/>
    <dgm:cxn modelId="{4B0648D4-41EF-4FB7-87EE-1179F8DB7841}" type="presParOf" srcId="{B849EE1C-DB23-4E39-BDE8-997511C4982B}" destId="{DA2854BB-8237-4EA3-BCF9-4020F5C526C6}" srcOrd="0" destOrd="0" presId="urn:microsoft.com/office/officeart/2018/2/layout/IconCircleList"/>
    <dgm:cxn modelId="{FB78E0B4-B6DD-4E92-A1F7-56EA89BECD45}" type="presParOf" srcId="{B849EE1C-DB23-4E39-BDE8-997511C4982B}" destId="{5CC79E5F-5835-4E4E-9813-B4725990ACEA}" srcOrd="1" destOrd="0" presId="urn:microsoft.com/office/officeart/2018/2/layout/IconCircleList"/>
    <dgm:cxn modelId="{02CDD99B-A847-45EB-BE18-18BF7A5627BD}" type="presParOf" srcId="{B849EE1C-DB23-4E39-BDE8-997511C4982B}" destId="{303EE2F2-7ADD-4288-8395-690C1AF15B29}" srcOrd="2" destOrd="0" presId="urn:microsoft.com/office/officeart/2018/2/layout/IconCircleList"/>
    <dgm:cxn modelId="{58ED7E76-47C8-4A1E-BC1F-86CE8BA1912E}" type="presParOf" srcId="{B849EE1C-DB23-4E39-BDE8-997511C4982B}" destId="{2BEE7495-C101-4C05-849F-75B4526C18B5}" srcOrd="3" destOrd="0" presId="urn:microsoft.com/office/officeart/2018/2/layout/IconCircleList"/>
    <dgm:cxn modelId="{11ECD97A-7A08-4F92-AB19-B1AFBEC8D5BF}" type="presParOf" srcId="{F82BDA71-ADD3-41C4-B2E6-F4F532A37305}" destId="{7715C025-700F-45FF-93D0-1881451986FB}" srcOrd="1" destOrd="0" presId="urn:microsoft.com/office/officeart/2018/2/layout/IconCircleList"/>
    <dgm:cxn modelId="{B3605D0B-E5FC-41F5-BDB4-1D23C655D0F1}" type="presParOf" srcId="{F82BDA71-ADD3-41C4-B2E6-F4F532A37305}" destId="{4E3DE93C-3C8E-4555-AD17-39121B346881}" srcOrd="2" destOrd="0" presId="urn:microsoft.com/office/officeart/2018/2/layout/IconCircleList"/>
    <dgm:cxn modelId="{F188B205-91F3-4A36-A2AF-48F20BAF267B}" type="presParOf" srcId="{4E3DE93C-3C8E-4555-AD17-39121B346881}" destId="{2C0D7027-B76B-4BDD-AA4A-8668427CEFB1}" srcOrd="0" destOrd="0" presId="urn:microsoft.com/office/officeart/2018/2/layout/IconCircleList"/>
    <dgm:cxn modelId="{DE0DB57B-B90C-4E1F-85FE-5B849E1ACEF4}" type="presParOf" srcId="{4E3DE93C-3C8E-4555-AD17-39121B346881}" destId="{5E9F99DF-422B-40BA-ADA0-C00C3990F501}" srcOrd="1" destOrd="0" presId="urn:microsoft.com/office/officeart/2018/2/layout/IconCircleList"/>
    <dgm:cxn modelId="{924E2628-052A-44AC-907A-240BEF0681E8}" type="presParOf" srcId="{4E3DE93C-3C8E-4555-AD17-39121B346881}" destId="{84623D27-1BF7-4D1F-8900-F9F0844DE495}" srcOrd="2" destOrd="0" presId="urn:microsoft.com/office/officeart/2018/2/layout/IconCircleList"/>
    <dgm:cxn modelId="{619ED21A-600A-40F6-89A0-2F1FCBFFC71C}" type="presParOf" srcId="{4E3DE93C-3C8E-4555-AD17-39121B346881}" destId="{294AF4AC-B6A4-4CFF-8F5D-17D181BEDA79}" srcOrd="3" destOrd="0" presId="urn:microsoft.com/office/officeart/2018/2/layout/IconCircleList"/>
    <dgm:cxn modelId="{9221DEAC-C2D4-409E-8793-8BCEBDE3CB29}" type="presParOf" srcId="{F82BDA71-ADD3-41C4-B2E6-F4F532A37305}" destId="{A8E72DD5-DFB8-4B33-8C81-7CB5EECEFA43}" srcOrd="3" destOrd="0" presId="urn:microsoft.com/office/officeart/2018/2/layout/IconCircleList"/>
    <dgm:cxn modelId="{5F61CB8E-D5C3-4F37-9F4C-007753493380}" type="presParOf" srcId="{F82BDA71-ADD3-41C4-B2E6-F4F532A37305}" destId="{D4E2E76F-70C7-4DB5-958A-7F3221979C0D}" srcOrd="4" destOrd="0" presId="urn:microsoft.com/office/officeart/2018/2/layout/IconCircleList"/>
    <dgm:cxn modelId="{3E486A80-61EE-4276-A714-F7C7E7E92256}" type="presParOf" srcId="{D4E2E76F-70C7-4DB5-958A-7F3221979C0D}" destId="{E5DCF8F5-4B0D-4CFB-9414-9839828F999F}" srcOrd="0" destOrd="0" presId="urn:microsoft.com/office/officeart/2018/2/layout/IconCircleList"/>
    <dgm:cxn modelId="{75463AD1-FF55-4B85-A892-8CFD08092B91}" type="presParOf" srcId="{D4E2E76F-70C7-4DB5-958A-7F3221979C0D}" destId="{0EAB7B43-6C92-4C43-9C35-9D92F7912054}" srcOrd="1" destOrd="0" presId="urn:microsoft.com/office/officeart/2018/2/layout/IconCircleList"/>
    <dgm:cxn modelId="{C8C5AC40-6C6C-4AE8-9EA6-B63097A4B267}" type="presParOf" srcId="{D4E2E76F-70C7-4DB5-958A-7F3221979C0D}" destId="{19415DE9-C0F7-44B1-9C62-D316DCEE2B07}" srcOrd="2" destOrd="0" presId="urn:microsoft.com/office/officeart/2018/2/layout/IconCircleList"/>
    <dgm:cxn modelId="{E72CBDE5-DC73-4A28-9795-F49E04D03825}" type="presParOf" srcId="{D4E2E76F-70C7-4DB5-958A-7F3221979C0D}" destId="{458BDA82-F32A-46F1-A482-14E4FD9082D0}" srcOrd="3" destOrd="0" presId="urn:microsoft.com/office/officeart/2018/2/layout/IconCircleList"/>
    <dgm:cxn modelId="{9C2A6A33-9945-4846-8A4A-6D7C72C556EC}" type="presParOf" srcId="{F82BDA71-ADD3-41C4-B2E6-F4F532A37305}" destId="{F4F3F3EB-5AFA-4FA1-ADF5-023025754D12}" srcOrd="5" destOrd="0" presId="urn:microsoft.com/office/officeart/2018/2/layout/IconCircleList"/>
    <dgm:cxn modelId="{BAA9809F-F546-4FD8-83DD-458A9BAB308D}" type="presParOf" srcId="{F82BDA71-ADD3-41C4-B2E6-F4F532A37305}" destId="{C17EB79A-3D69-4712-B948-857ACF2FB7AF}" srcOrd="6" destOrd="0" presId="urn:microsoft.com/office/officeart/2018/2/layout/IconCircleList"/>
    <dgm:cxn modelId="{3EDD13B8-D81E-49CC-97EF-656D280A74DD}" type="presParOf" srcId="{C17EB79A-3D69-4712-B948-857ACF2FB7AF}" destId="{CEBD2EEC-2451-46AB-B1C9-87FC563A2F1D}" srcOrd="0" destOrd="0" presId="urn:microsoft.com/office/officeart/2018/2/layout/IconCircleList"/>
    <dgm:cxn modelId="{E0DAE2BB-9164-4F4F-9288-C07799B62CE6}" type="presParOf" srcId="{C17EB79A-3D69-4712-B948-857ACF2FB7AF}" destId="{3FC9EEA1-0814-4B06-82A3-A67C149E698E}" srcOrd="1" destOrd="0" presId="urn:microsoft.com/office/officeart/2018/2/layout/IconCircleList"/>
    <dgm:cxn modelId="{7E66C030-B37A-41D0-98A1-219078D3EEB7}" type="presParOf" srcId="{C17EB79A-3D69-4712-B948-857ACF2FB7AF}" destId="{F41CD715-15EF-44C7-9931-FBCC13C785E4}" srcOrd="2" destOrd="0" presId="urn:microsoft.com/office/officeart/2018/2/layout/IconCircleList"/>
    <dgm:cxn modelId="{EFF2C965-812B-4100-A00A-CBA7946CA878}" type="presParOf" srcId="{C17EB79A-3D69-4712-B948-857ACF2FB7AF}" destId="{4865D336-1EA7-417C-9C8C-E2813518116A}" srcOrd="3" destOrd="0" presId="urn:microsoft.com/office/officeart/2018/2/layout/IconCircleList"/>
    <dgm:cxn modelId="{488D4C87-22C1-45B3-9A61-5AC5B8A88C49}" type="presParOf" srcId="{F82BDA71-ADD3-41C4-B2E6-F4F532A37305}" destId="{CE33C0D1-1B83-4BD0-95B8-92D6904B9CF2}" srcOrd="7" destOrd="0" presId="urn:microsoft.com/office/officeart/2018/2/layout/IconCircleList"/>
    <dgm:cxn modelId="{962FFC75-F503-471A-B4D8-B09E60CE5CF8}" type="presParOf" srcId="{F82BDA71-ADD3-41C4-B2E6-F4F532A37305}" destId="{64A903CF-9860-44C1-ADF6-A5BD59DAE923}" srcOrd="8" destOrd="0" presId="urn:microsoft.com/office/officeart/2018/2/layout/IconCircleList"/>
    <dgm:cxn modelId="{479823C0-0660-483F-BB78-EB447A86F1EF}" type="presParOf" srcId="{64A903CF-9860-44C1-ADF6-A5BD59DAE923}" destId="{F7E68677-7D7F-42E5-9D7B-34A4B20927E5}" srcOrd="0" destOrd="0" presId="urn:microsoft.com/office/officeart/2018/2/layout/IconCircleList"/>
    <dgm:cxn modelId="{DCEDBE6E-56B1-41B4-9E77-00FAF2A3DA91}" type="presParOf" srcId="{64A903CF-9860-44C1-ADF6-A5BD59DAE923}" destId="{24946B79-AD98-49B9-910A-2ADA306B3495}" srcOrd="1" destOrd="0" presId="urn:microsoft.com/office/officeart/2018/2/layout/IconCircleList"/>
    <dgm:cxn modelId="{54F7014D-C73B-4A33-94D2-34217C80FFE2}" type="presParOf" srcId="{64A903CF-9860-44C1-ADF6-A5BD59DAE923}" destId="{E07469FB-F938-4D77-8226-BED4359760E3}" srcOrd="2" destOrd="0" presId="urn:microsoft.com/office/officeart/2018/2/layout/IconCircleList"/>
    <dgm:cxn modelId="{6E621C4F-CC7A-407D-B46A-AD61AB57A990}" type="presParOf" srcId="{64A903CF-9860-44C1-ADF6-A5BD59DAE923}" destId="{71103444-AC1D-4E71-BAB4-2B51A0E12D21}" srcOrd="3" destOrd="0" presId="urn:microsoft.com/office/officeart/2018/2/layout/IconCircleList"/>
    <dgm:cxn modelId="{60083F55-B6B5-4680-BDE5-4D6DF7BC0471}" type="presParOf" srcId="{F82BDA71-ADD3-41C4-B2E6-F4F532A37305}" destId="{98ECA9AE-17F0-4401-B9F2-524C9C98932E}" srcOrd="9" destOrd="0" presId="urn:microsoft.com/office/officeart/2018/2/layout/IconCircleList"/>
    <dgm:cxn modelId="{62CBEC86-637B-40FF-B213-03241EFE6DC1}" type="presParOf" srcId="{F82BDA71-ADD3-41C4-B2E6-F4F532A37305}" destId="{6A0348E6-029D-4BF9-BAD7-73FF1DA64741}" srcOrd="10" destOrd="0" presId="urn:microsoft.com/office/officeart/2018/2/layout/IconCircleList"/>
    <dgm:cxn modelId="{EEE086F9-6D1D-4FA5-847B-E9F2BD7DC7CA}" type="presParOf" srcId="{6A0348E6-029D-4BF9-BAD7-73FF1DA64741}" destId="{4BEDC417-EA18-4404-84A7-9EF3B33334E9}" srcOrd="0" destOrd="0" presId="urn:microsoft.com/office/officeart/2018/2/layout/IconCircleList"/>
    <dgm:cxn modelId="{CEF68833-C3A4-46B1-AD11-6355104A5C38}" type="presParOf" srcId="{6A0348E6-029D-4BF9-BAD7-73FF1DA64741}" destId="{C3EB8C6A-657C-4FBA-8A6C-561446CE47B8}" srcOrd="1" destOrd="0" presId="urn:microsoft.com/office/officeart/2018/2/layout/IconCircleList"/>
    <dgm:cxn modelId="{9C35EB24-DE3C-4B24-8F8F-6DA9D31A8F53}" type="presParOf" srcId="{6A0348E6-029D-4BF9-BAD7-73FF1DA64741}" destId="{A533829A-E07F-4818-9584-2217C14D5B37}" srcOrd="2" destOrd="0" presId="urn:microsoft.com/office/officeart/2018/2/layout/IconCircleList"/>
    <dgm:cxn modelId="{0DCEB052-C57B-4E6F-9D79-972D8E53A289}" type="presParOf" srcId="{6A0348E6-029D-4BF9-BAD7-73FF1DA64741}" destId="{AD84CCA8-20D5-4E0F-8A32-126D4F38078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59DC0B-AF66-4F02-8ED9-51254DB8B23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2E9F291-36CF-43DA-857F-5C47702166FD}">
      <dgm:prSet/>
      <dgm:spPr/>
      <dgm:t>
        <a:bodyPr/>
        <a:lstStyle/>
        <a:p>
          <a:r>
            <a:rPr lang="en-ZA" b="1"/>
            <a:t>Viewership is growing:</a:t>
          </a:r>
          <a:r>
            <a:rPr lang="en-ZA"/>
            <a:t> Viewership increased consistently from January to March 2026.</a:t>
          </a:r>
          <a:endParaRPr lang="en-US"/>
        </a:p>
      </dgm:t>
    </dgm:pt>
    <dgm:pt modelId="{0CA47726-E298-4AA3-B249-FEF81CB58249}" type="parTrans" cxnId="{24491835-F51F-4BB0-B35E-CEA336C4F091}">
      <dgm:prSet/>
      <dgm:spPr/>
      <dgm:t>
        <a:bodyPr/>
        <a:lstStyle/>
        <a:p>
          <a:endParaRPr lang="en-US"/>
        </a:p>
      </dgm:t>
    </dgm:pt>
    <dgm:pt modelId="{064EA74F-AA6D-4416-9A50-27D525A0F78A}" type="sibTrans" cxnId="{24491835-F51F-4BB0-B35E-CEA336C4F091}">
      <dgm:prSet/>
      <dgm:spPr/>
      <dgm:t>
        <a:bodyPr/>
        <a:lstStyle/>
        <a:p>
          <a:endParaRPr lang="en-US"/>
        </a:p>
      </dgm:t>
    </dgm:pt>
    <dgm:pt modelId="{56CA3174-A436-419C-88E4-23FBD310D383}">
      <dgm:prSet/>
      <dgm:spPr/>
      <dgm:t>
        <a:bodyPr/>
        <a:lstStyle/>
        <a:p>
          <a:r>
            <a:rPr lang="en-ZA" b="1"/>
            <a:t>Afternoons are the prime viewing period:</a:t>
          </a:r>
          <a:r>
            <a:rPr lang="en-ZA"/>
            <a:t> Weekdays and afternoons attract the most viewers, while midnight has the lowest engagement.</a:t>
          </a:r>
          <a:endParaRPr lang="en-US"/>
        </a:p>
      </dgm:t>
    </dgm:pt>
    <dgm:pt modelId="{CB46CDBD-A6C4-4DE5-9C75-0C6910930EBD}" type="parTrans" cxnId="{AB35E2ED-F852-4841-B600-B5DDE18C198E}">
      <dgm:prSet/>
      <dgm:spPr/>
      <dgm:t>
        <a:bodyPr/>
        <a:lstStyle/>
        <a:p>
          <a:endParaRPr lang="en-US"/>
        </a:p>
      </dgm:t>
    </dgm:pt>
    <dgm:pt modelId="{E6957ED6-AA84-41DF-A9AA-9F5558050011}" type="sibTrans" cxnId="{AB35E2ED-F852-4841-B600-B5DDE18C198E}">
      <dgm:prSet/>
      <dgm:spPr/>
      <dgm:t>
        <a:bodyPr/>
        <a:lstStyle/>
        <a:p>
          <a:endParaRPr lang="en-US"/>
        </a:p>
      </dgm:t>
    </dgm:pt>
    <dgm:pt modelId="{3F4828BA-AFDE-4136-8E4A-467B3DF67051}">
      <dgm:prSet/>
      <dgm:spPr/>
      <dgm:t>
        <a:bodyPr/>
        <a:lstStyle/>
        <a:p>
          <a:r>
            <a:rPr lang="en-ZA" b="1"/>
            <a:t>Male viewers dominate:</a:t>
          </a:r>
          <a:r>
            <a:rPr lang="en-ZA"/>
            <a:t> Males account for </a:t>
          </a:r>
          <a:r>
            <a:rPr lang="en-ZA" b="1"/>
            <a:t>80% of total viewership</a:t>
          </a:r>
          <a:r>
            <a:rPr lang="en-ZA"/>
            <a:t>, with </a:t>
          </a:r>
          <a:r>
            <a:rPr lang="en-ZA" b="1"/>
            <a:t>Black males contributing 38%</a:t>
          </a:r>
          <a:r>
            <a:rPr lang="en-ZA"/>
            <a:t>.</a:t>
          </a:r>
          <a:endParaRPr lang="en-US"/>
        </a:p>
      </dgm:t>
    </dgm:pt>
    <dgm:pt modelId="{B807D8B4-291D-455B-AFD2-57D9DC57BC32}" type="parTrans" cxnId="{AE01890C-B718-4D4C-AF1A-69189096B534}">
      <dgm:prSet/>
      <dgm:spPr/>
      <dgm:t>
        <a:bodyPr/>
        <a:lstStyle/>
        <a:p>
          <a:endParaRPr lang="en-US"/>
        </a:p>
      </dgm:t>
    </dgm:pt>
    <dgm:pt modelId="{729FAE2C-E3BB-48BD-A3C7-CF48262AB65D}" type="sibTrans" cxnId="{AE01890C-B718-4D4C-AF1A-69189096B534}">
      <dgm:prSet/>
      <dgm:spPr/>
      <dgm:t>
        <a:bodyPr/>
        <a:lstStyle/>
        <a:p>
          <a:endParaRPr lang="en-US"/>
        </a:p>
      </dgm:t>
    </dgm:pt>
    <dgm:pt modelId="{D8340173-B895-4129-B691-02BE60087DB0}">
      <dgm:prSet/>
      <dgm:spPr/>
      <dgm:t>
        <a:bodyPr/>
        <a:lstStyle/>
        <a:p>
          <a:r>
            <a:rPr lang="en-ZA" b="1"/>
            <a:t>Gender &amp; Race disclosure remains a gap:</a:t>
          </a:r>
          <a:r>
            <a:rPr lang="en-ZA"/>
            <a:t> </a:t>
          </a:r>
          <a:r>
            <a:rPr lang="en-ZA" b="1"/>
            <a:t>12% of viewers did not disclose their gender or race.</a:t>
          </a:r>
          <a:endParaRPr lang="en-US"/>
        </a:p>
      </dgm:t>
    </dgm:pt>
    <dgm:pt modelId="{1011C3F5-3114-43F7-BA64-3CDC627E43C5}" type="parTrans" cxnId="{E7B6918F-D566-496D-93E6-8EDBA4800F62}">
      <dgm:prSet/>
      <dgm:spPr/>
      <dgm:t>
        <a:bodyPr/>
        <a:lstStyle/>
        <a:p>
          <a:endParaRPr lang="en-US"/>
        </a:p>
      </dgm:t>
    </dgm:pt>
    <dgm:pt modelId="{359255CA-A764-47B0-8618-82F760B4E329}" type="sibTrans" cxnId="{E7B6918F-D566-496D-93E6-8EDBA4800F62}">
      <dgm:prSet/>
      <dgm:spPr/>
      <dgm:t>
        <a:bodyPr/>
        <a:lstStyle/>
        <a:p>
          <a:endParaRPr lang="en-US"/>
        </a:p>
      </dgm:t>
    </dgm:pt>
    <dgm:pt modelId="{67A41168-2977-4E88-981F-87F157005BA0}">
      <dgm:prSet/>
      <dgm:spPr/>
      <dgm:t>
        <a:bodyPr/>
        <a:lstStyle/>
        <a:p>
          <a:r>
            <a:rPr lang="en-ZA" b="1"/>
            <a:t>Youth leads in age group:</a:t>
          </a:r>
          <a:r>
            <a:rPr lang="en-ZA"/>
            <a:t> Youth make up </a:t>
          </a:r>
          <a:r>
            <a:rPr lang="en-ZA" b="1"/>
            <a:t>57% of viewership</a:t>
          </a:r>
          <a:r>
            <a:rPr lang="en-ZA"/>
            <a:t>, making them Bright TV’s largest age-group audience. </a:t>
          </a:r>
          <a:r>
            <a:rPr lang="en-ZA" dirty="0"/>
            <a:t>Only </a:t>
          </a:r>
          <a:r>
            <a:rPr lang="en-ZA" b="1" dirty="0"/>
            <a:t>0.48% did not disclose their age</a:t>
          </a:r>
          <a:r>
            <a:rPr lang="en-ZA" dirty="0"/>
            <a:t>.</a:t>
          </a:r>
          <a:endParaRPr lang="en-US" dirty="0"/>
        </a:p>
      </dgm:t>
    </dgm:pt>
    <dgm:pt modelId="{BD776B50-442B-4566-8E08-A22A54CC3B4F}" type="parTrans" cxnId="{EF334C2D-BAF5-4565-825B-F2D5266F20A6}">
      <dgm:prSet/>
      <dgm:spPr/>
      <dgm:t>
        <a:bodyPr/>
        <a:lstStyle/>
        <a:p>
          <a:endParaRPr lang="en-US"/>
        </a:p>
      </dgm:t>
    </dgm:pt>
    <dgm:pt modelId="{07114E09-4EB8-402A-A24F-339AF7606716}" type="sibTrans" cxnId="{EF334C2D-BAF5-4565-825B-F2D5266F20A6}">
      <dgm:prSet/>
      <dgm:spPr/>
      <dgm:t>
        <a:bodyPr/>
        <a:lstStyle/>
        <a:p>
          <a:endParaRPr lang="en-US"/>
        </a:p>
      </dgm:t>
    </dgm:pt>
    <dgm:pt modelId="{8606F623-3908-4DAE-B5BE-05A165FC47AF}">
      <dgm:prSet/>
      <dgm:spPr/>
      <dgm:t>
        <a:bodyPr/>
        <a:lstStyle/>
        <a:p>
          <a:r>
            <a:rPr lang="en-ZA" b="1"/>
            <a:t>Some viewers did not disclose their race:</a:t>
          </a:r>
          <a:r>
            <a:rPr lang="en-ZA"/>
            <a:t> This leaves a small gap in understanding the full racial composition of the audience.</a:t>
          </a:r>
          <a:endParaRPr lang="en-US"/>
        </a:p>
      </dgm:t>
    </dgm:pt>
    <dgm:pt modelId="{548DB169-2C7F-450D-B11E-A904A34C3038}" type="parTrans" cxnId="{073F1AC0-45B4-4858-A78A-5976A723173E}">
      <dgm:prSet/>
      <dgm:spPr/>
      <dgm:t>
        <a:bodyPr/>
        <a:lstStyle/>
        <a:p>
          <a:endParaRPr lang="en-US"/>
        </a:p>
      </dgm:t>
    </dgm:pt>
    <dgm:pt modelId="{A2BDADDC-E455-46B7-B220-ECB245830E2C}" type="sibTrans" cxnId="{073F1AC0-45B4-4858-A78A-5976A723173E}">
      <dgm:prSet/>
      <dgm:spPr/>
      <dgm:t>
        <a:bodyPr/>
        <a:lstStyle/>
        <a:p>
          <a:endParaRPr lang="en-US"/>
        </a:p>
      </dgm:t>
    </dgm:pt>
    <dgm:pt modelId="{6865FA03-1F2A-4D02-B330-1263A2B9C0EA}">
      <dgm:prSet/>
      <dgm:spPr/>
      <dgm:t>
        <a:bodyPr/>
        <a:lstStyle/>
        <a:p>
          <a:r>
            <a:rPr lang="en-ZA" b="1" dirty="0"/>
            <a:t>Female viewership is low:</a:t>
          </a:r>
          <a:r>
            <a:rPr lang="en-ZA" dirty="0"/>
            <a:t> Females account for only </a:t>
          </a:r>
          <a:r>
            <a:rPr lang="en-ZA" b="1" dirty="0"/>
            <a:t>8% of total viewership</a:t>
          </a:r>
          <a:r>
            <a:rPr lang="en-ZA" dirty="0"/>
            <a:t>, with </a:t>
          </a:r>
          <a:r>
            <a:rPr lang="en-ZA" b="1" dirty="0"/>
            <a:t>Black females contributing 5%</a:t>
          </a:r>
          <a:r>
            <a:rPr lang="en-ZA" dirty="0"/>
            <a:t>.</a:t>
          </a:r>
          <a:endParaRPr lang="en-US" dirty="0"/>
        </a:p>
      </dgm:t>
    </dgm:pt>
    <dgm:pt modelId="{EC1A4A4F-F314-43CE-AEFA-7460F8EDEEDE}" type="parTrans" cxnId="{4912C095-566B-4D40-922B-627C0AAB1479}">
      <dgm:prSet/>
      <dgm:spPr/>
      <dgm:t>
        <a:bodyPr/>
        <a:lstStyle/>
        <a:p>
          <a:endParaRPr lang="en-US"/>
        </a:p>
      </dgm:t>
    </dgm:pt>
    <dgm:pt modelId="{DF50AF5B-8D97-4AD9-80B6-F56496B33EFC}" type="sibTrans" cxnId="{4912C095-566B-4D40-922B-627C0AAB1479}">
      <dgm:prSet/>
      <dgm:spPr/>
      <dgm:t>
        <a:bodyPr/>
        <a:lstStyle/>
        <a:p>
          <a:endParaRPr lang="en-US"/>
        </a:p>
      </dgm:t>
    </dgm:pt>
    <dgm:pt modelId="{6C07573C-2573-4DAC-B684-C68CEAE38866}">
      <dgm:prSet/>
      <dgm:spPr/>
      <dgm:t>
        <a:bodyPr/>
        <a:lstStyle/>
        <a:p>
          <a:r>
            <a:rPr lang="en-ZA" b="1"/>
            <a:t>Gauteng leads viewership:</a:t>
          </a:r>
          <a:r>
            <a:rPr lang="en-ZA"/>
            <a:t> </a:t>
          </a:r>
          <a:r>
            <a:rPr lang="en-ZA" b="1"/>
            <a:t>Johannesburg has the largest viewer base</a:t>
          </a:r>
          <a:r>
            <a:rPr lang="en-ZA"/>
            <a:t>, followed by the </a:t>
          </a:r>
          <a:r>
            <a:rPr lang="en-ZA" b="1"/>
            <a:t>Western Cape</a:t>
          </a:r>
          <a:r>
            <a:rPr lang="en-ZA"/>
            <a:t>.</a:t>
          </a:r>
          <a:endParaRPr lang="en-US"/>
        </a:p>
      </dgm:t>
    </dgm:pt>
    <dgm:pt modelId="{7CD42BC6-22FA-449A-AB24-5D42F67DBA7A}" type="parTrans" cxnId="{E7B1ECE2-831B-4A41-AAB1-9F73267E1297}">
      <dgm:prSet/>
      <dgm:spPr/>
      <dgm:t>
        <a:bodyPr/>
        <a:lstStyle/>
        <a:p>
          <a:endParaRPr lang="en-US"/>
        </a:p>
      </dgm:t>
    </dgm:pt>
    <dgm:pt modelId="{316EB579-AAA6-459D-903B-E54B355A5330}" type="sibTrans" cxnId="{E7B1ECE2-831B-4A41-AAB1-9F73267E1297}">
      <dgm:prSet/>
      <dgm:spPr/>
      <dgm:t>
        <a:bodyPr/>
        <a:lstStyle/>
        <a:p>
          <a:endParaRPr lang="en-US"/>
        </a:p>
      </dgm:t>
    </dgm:pt>
    <dgm:pt modelId="{9B686720-56BB-421C-A819-015D754FC9B0}" type="pres">
      <dgm:prSet presAssocID="{C959DC0B-AF66-4F02-8ED9-51254DB8B234}" presName="vert0" presStyleCnt="0">
        <dgm:presLayoutVars>
          <dgm:dir/>
          <dgm:animOne val="branch"/>
          <dgm:animLvl val="lvl"/>
        </dgm:presLayoutVars>
      </dgm:prSet>
      <dgm:spPr/>
    </dgm:pt>
    <dgm:pt modelId="{714DB013-21EF-429B-BB5A-51D7CE7D0C5A}" type="pres">
      <dgm:prSet presAssocID="{12E9F291-36CF-43DA-857F-5C47702166FD}" presName="thickLine" presStyleLbl="alignNode1" presStyleIdx="0" presStyleCnt="8"/>
      <dgm:spPr/>
    </dgm:pt>
    <dgm:pt modelId="{96ECCEE4-47A1-4A41-A05C-AECAB6736F1A}" type="pres">
      <dgm:prSet presAssocID="{12E9F291-36CF-43DA-857F-5C47702166FD}" presName="horz1" presStyleCnt="0"/>
      <dgm:spPr/>
    </dgm:pt>
    <dgm:pt modelId="{ADDAE275-533D-463F-9ED8-6CAEBAFCA10D}" type="pres">
      <dgm:prSet presAssocID="{12E9F291-36CF-43DA-857F-5C47702166FD}" presName="tx1" presStyleLbl="revTx" presStyleIdx="0" presStyleCnt="8"/>
      <dgm:spPr/>
    </dgm:pt>
    <dgm:pt modelId="{4D2329FF-A3E0-47C6-9507-FEC2754ADCC2}" type="pres">
      <dgm:prSet presAssocID="{12E9F291-36CF-43DA-857F-5C47702166FD}" presName="vert1" presStyleCnt="0"/>
      <dgm:spPr/>
    </dgm:pt>
    <dgm:pt modelId="{3CD37664-578A-4838-B0A6-18A8EE3ED03C}" type="pres">
      <dgm:prSet presAssocID="{56CA3174-A436-419C-88E4-23FBD310D383}" presName="thickLine" presStyleLbl="alignNode1" presStyleIdx="1" presStyleCnt="8"/>
      <dgm:spPr/>
    </dgm:pt>
    <dgm:pt modelId="{B7A5A1C1-8093-42A8-A80A-01C0D08AE781}" type="pres">
      <dgm:prSet presAssocID="{56CA3174-A436-419C-88E4-23FBD310D383}" presName="horz1" presStyleCnt="0"/>
      <dgm:spPr/>
    </dgm:pt>
    <dgm:pt modelId="{AD68D047-B12B-44B4-A47E-CCC0EF654F52}" type="pres">
      <dgm:prSet presAssocID="{56CA3174-A436-419C-88E4-23FBD310D383}" presName="tx1" presStyleLbl="revTx" presStyleIdx="1" presStyleCnt="8"/>
      <dgm:spPr/>
    </dgm:pt>
    <dgm:pt modelId="{F9E17CC8-154C-4C1A-9744-48C6E4882FF3}" type="pres">
      <dgm:prSet presAssocID="{56CA3174-A436-419C-88E4-23FBD310D383}" presName="vert1" presStyleCnt="0"/>
      <dgm:spPr/>
    </dgm:pt>
    <dgm:pt modelId="{27A3341B-3247-48BB-8175-DA537332CDB0}" type="pres">
      <dgm:prSet presAssocID="{3F4828BA-AFDE-4136-8E4A-467B3DF67051}" presName="thickLine" presStyleLbl="alignNode1" presStyleIdx="2" presStyleCnt="8"/>
      <dgm:spPr/>
    </dgm:pt>
    <dgm:pt modelId="{53024E0D-2113-42BF-AC99-5FC65F0D0B54}" type="pres">
      <dgm:prSet presAssocID="{3F4828BA-AFDE-4136-8E4A-467B3DF67051}" presName="horz1" presStyleCnt="0"/>
      <dgm:spPr/>
    </dgm:pt>
    <dgm:pt modelId="{03C017F2-B019-4DBB-BF05-C171BADB8F5B}" type="pres">
      <dgm:prSet presAssocID="{3F4828BA-AFDE-4136-8E4A-467B3DF67051}" presName="tx1" presStyleLbl="revTx" presStyleIdx="2" presStyleCnt="8"/>
      <dgm:spPr/>
    </dgm:pt>
    <dgm:pt modelId="{0957251F-95E5-42CF-865C-38325B367283}" type="pres">
      <dgm:prSet presAssocID="{3F4828BA-AFDE-4136-8E4A-467B3DF67051}" presName="vert1" presStyleCnt="0"/>
      <dgm:spPr/>
    </dgm:pt>
    <dgm:pt modelId="{EBF3E295-2E72-499C-B577-ED2F40448A8A}" type="pres">
      <dgm:prSet presAssocID="{D8340173-B895-4129-B691-02BE60087DB0}" presName="thickLine" presStyleLbl="alignNode1" presStyleIdx="3" presStyleCnt="8"/>
      <dgm:spPr/>
    </dgm:pt>
    <dgm:pt modelId="{7FB5E478-91AC-4AE4-83A1-8DBDA9A29346}" type="pres">
      <dgm:prSet presAssocID="{D8340173-B895-4129-B691-02BE60087DB0}" presName="horz1" presStyleCnt="0"/>
      <dgm:spPr/>
    </dgm:pt>
    <dgm:pt modelId="{EF2EB6A9-2341-4774-93A4-DCDD81D7F5EF}" type="pres">
      <dgm:prSet presAssocID="{D8340173-B895-4129-B691-02BE60087DB0}" presName="tx1" presStyleLbl="revTx" presStyleIdx="3" presStyleCnt="8"/>
      <dgm:spPr/>
    </dgm:pt>
    <dgm:pt modelId="{B5D58A24-794C-40F4-A7C6-BECC86ED59AB}" type="pres">
      <dgm:prSet presAssocID="{D8340173-B895-4129-B691-02BE60087DB0}" presName="vert1" presStyleCnt="0"/>
      <dgm:spPr/>
    </dgm:pt>
    <dgm:pt modelId="{2B74B046-FA78-4260-AB81-7612F62C119F}" type="pres">
      <dgm:prSet presAssocID="{67A41168-2977-4E88-981F-87F157005BA0}" presName="thickLine" presStyleLbl="alignNode1" presStyleIdx="4" presStyleCnt="8"/>
      <dgm:spPr/>
    </dgm:pt>
    <dgm:pt modelId="{138CD6FD-3086-4534-940C-571EB5817594}" type="pres">
      <dgm:prSet presAssocID="{67A41168-2977-4E88-981F-87F157005BA0}" presName="horz1" presStyleCnt="0"/>
      <dgm:spPr/>
    </dgm:pt>
    <dgm:pt modelId="{CDC748DE-89E5-45DA-9511-DF1A54606FFB}" type="pres">
      <dgm:prSet presAssocID="{67A41168-2977-4E88-981F-87F157005BA0}" presName="tx1" presStyleLbl="revTx" presStyleIdx="4" presStyleCnt="8"/>
      <dgm:spPr/>
    </dgm:pt>
    <dgm:pt modelId="{CCC30D88-6E1D-4EC7-BA94-8BD49E5C847C}" type="pres">
      <dgm:prSet presAssocID="{67A41168-2977-4E88-981F-87F157005BA0}" presName="vert1" presStyleCnt="0"/>
      <dgm:spPr/>
    </dgm:pt>
    <dgm:pt modelId="{F74A69F4-3E34-453F-96BB-785DEED9F1A1}" type="pres">
      <dgm:prSet presAssocID="{8606F623-3908-4DAE-B5BE-05A165FC47AF}" presName="thickLine" presStyleLbl="alignNode1" presStyleIdx="5" presStyleCnt="8"/>
      <dgm:spPr/>
    </dgm:pt>
    <dgm:pt modelId="{2976AB37-4EA2-4BDD-B3BD-851DB1BF30ED}" type="pres">
      <dgm:prSet presAssocID="{8606F623-3908-4DAE-B5BE-05A165FC47AF}" presName="horz1" presStyleCnt="0"/>
      <dgm:spPr/>
    </dgm:pt>
    <dgm:pt modelId="{FA5AC1C5-4B21-4735-9DBC-2F2CCD596F87}" type="pres">
      <dgm:prSet presAssocID="{8606F623-3908-4DAE-B5BE-05A165FC47AF}" presName="tx1" presStyleLbl="revTx" presStyleIdx="5" presStyleCnt="8"/>
      <dgm:spPr/>
    </dgm:pt>
    <dgm:pt modelId="{72398812-BFC4-4486-AACB-1451555593C7}" type="pres">
      <dgm:prSet presAssocID="{8606F623-3908-4DAE-B5BE-05A165FC47AF}" presName="vert1" presStyleCnt="0"/>
      <dgm:spPr/>
    </dgm:pt>
    <dgm:pt modelId="{81D15739-9056-4F2E-BD28-67819EBE976C}" type="pres">
      <dgm:prSet presAssocID="{6865FA03-1F2A-4D02-B330-1263A2B9C0EA}" presName="thickLine" presStyleLbl="alignNode1" presStyleIdx="6" presStyleCnt="8"/>
      <dgm:spPr/>
    </dgm:pt>
    <dgm:pt modelId="{D281EBFA-42A4-4E2B-B980-8EC21234B483}" type="pres">
      <dgm:prSet presAssocID="{6865FA03-1F2A-4D02-B330-1263A2B9C0EA}" presName="horz1" presStyleCnt="0"/>
      <dgm:spPr/>
    </dgm:pt>
    <dgm:pt modelId="{6C3A250B-59E1-47C6-8B27-5673BFA5DB1F}" type="pres">
      <dgm:prSet presAssocID="{6865FA03-1F2A-4D02-B330-1263A2B9C0EA}" presName="tx1" presStyleLbl="revTx" presStyleIdx="6" presStyleCnt="8"/>
      <dgm:spPr/>
    </dgm:pt>
    <dgm:pt modelId="{AC208B68-B093-4E1C-95DE-8DB46169BBF3}" type="pres">
      <dgm:prSet presAssocID="{6865FA03-1F2A-4D02-B330-1263A2B9C0EA}" presName="vert1" presStyleCnt="0"/>
      <dgm:spPr/>
    </dgm:pt>
    <dgm:pt modelId="{5F05563B-55F3-4D3D-9DF7-B6A81E9ACDD0}" type="pres">
      <dgm:prSet presAssocID="{6C07573C-2573-4DAC-B684-C68CEAE38866}" presName="thickLine" presStyleLbl="alignNode1" presStyleIdx="7" presStyleCnt="8"/>
      <dgm:spPr/>
    </dgm:pt>
    <dgm:pt modelId="{9E7B50C2-B295-43E7-8E80-D5FAFD297CD4}" type="pres">
      <dgm:prSet presAssocID="{6C07573C-2573-4DAC-B684-C68CEAE38866}" presName="horz1" presStyleCnt="0"/>
      <dgm:spPr/>
    </dgm:pt>
    <dgm:pt modelId="{EF00A9B2-D828-4EF4-A6C8-D834046A65B4}" type="pres">
      <dgm:prSet presAssocID="{6C07573C-2573-4DAC-B684-C68CEAE38866}" presName="tx1" presStyleLbl="revTx" presStyleIdx="7" presStyleCnt="8"/>
      <dgm:spPr/>
    </dgm:pt>
    <dgm:pt modelId="{F92386C1-B0E8-4C80-ACA6-A76701E2C583}" type="pres">
      <dgm:prSet presAssocID="{6C07573C-2573-4DAC-B684-C68CEAE38866}" presName="vert1" presStyleCnt="0"/>
      <dgm:spPr/>
    </dgm:pt>
  </dgm:ptLst>
  <dgm:cxnLst>
    <dgm:cxn modelId="{AE01890C-B718-4D4C-AF1A-69189096B534}" srcId="{C959DC0B-AF66-4F02-8ED9-51254DB8B234}" destId="{3F4828BA-AFDE-4136-8E4A-467B3DF67051}" srcOrd="2" destOrd="0" parTransId="{B807D8B4-291D-455B-AFD2-57D9DC57BC32}" sibTransId="{729FAE2C-E3BB-48BD-A3C7-CF48262AB65D}"/>
    <dgm:cxn modelId="{ADA94D12-27DD-4E32-B0E3-502CDA45F848}" type="presOf" srcId="{67A41168-2977-4E88-981F-87F157005BA0}" destId="{CDC748DE-89E5-45DA-9511-DF1A54606FFB}" srcOrd="0" destOrd="0" presId="urn:microsoft.com/office/officeart/2008/layout/LinedList"/>
    <dgm:cxn modelId="{3EFC6E2C-0D6F-4FE8-B0B2-C7A30940F7CF}" type="presOf" srcId="{3F4828BA-AFDE-4136-8E4A-467B3DF67051}" destId="{03C017F2-B019-4DBB-BF05-C171BADB8F5B}" srcOrd="0" destOrd="0" presId="urn:microsoft.com/office/officeart/2008/layout/LinedList"/>
    <dgm:cxn modelId="{EF334C2D-BAF5-4565-825B-F2D5266F20A6}" srcId="{C959DC0B-AF66-4F02-8ED9-51254DB8B234}" destId="{67A41168-2977-4E88-981F-87F157005BA0}" srcOrd="4" destOrd="0" parTransId="{BD776B50-442B-4566-8E08-A22A54CC3B4F}" sibTransId="{07114E09-4EB8-402A-A24F-339AF7606716}"/>
    <dgm:cxn modelId="{24491835-F51F-4BB0-B35E-CEA336C4F091}" srcId="{C959DC0B-AF66-4F02-8ED9-51254DB8B234}" destId="{12E9F291-36CF-43DA-857F-5C47702166FD}" srcOrd="0" destOrd="0" parTransId="{0CA47726-E298-4AA3-B249-FEF81CB58249}" sibTransId="{064EA74F-AA6D-4416-9A50-27D525A0F78A}"/>
    <dgm:cxn modelId="{420EE76A-2DAB-46FD-871B-7759F4E0D92D}" type="presOf" srcId="{56CA3174-A436-419C-88E4-23FBD310D383}" destId="{AD68D047-B12B-44B4-A47E-CCC0EF654F52}" srcOrd="0" destOrd="0" presId="urn:microsoft.com/office/officeart/2008/layout/LinedList"/>
    <dgm:cxn modelId="{E7B6918F-D566-496D-93E6-8EDBA4800F62}" srcId="{C959DC0B-AF66-4F02-8ED9-51254DB8B234}" destId="{D8340173-B895-4129-B691-02BE60087DB0}" srcOrd="3" destOrd="0" parTransId="{1011C3F5-3114-43F7-BA64-3CDC627E43C5}" sibTransId="{359255CA-A764-47B0-8618-82F760B4E329}"/>
    <dgm:cxn modelId="{4912C095-566B-4D40-922B-627C0AAB1479}" srcId="{C959DC0B-AF66-4F02-8ED9-51254DB8B234}" destId="{6865FA03-1F2A-4D02-B330-1263A2B9C0EA}" srcOrd="6" destOrd="0" parTransId="{EC1A4A4F-F314-43CE-AEFA-7460F8EDEEDE}" sibTransId="{DF50AF5B-8D97-4AD9-80B6-F56496B33EFC}"/>
    <dgm:cxn modelId="{B54720A1-845F-44A2-95F0-DE6ECA00B7FD}" type="presOf" srcId="{6865FA03-1F2A-4D02-B330-1263A2B9C0EA}" destId="{6C3A250B-59E1-47C6-8B27-5673BFA5DB1F}" srcOrd="0" destOrd="0" presId="urn:microsoft.com/office/officeart/2008/layout/LinedList"/>
    <dgm:cxn modelId="{443D01AA-D005-44EE-BD69-C641D397E355}" type="presOf" srcId="{6C07573C-2573-4DAC-B684-C68CEAE38866}" destId="{EF00A9B2-D828-4EF4-A6C8-D834046A65B4}" srcOrd="0" destOrd="0" presId="urn:microsoft.com/office/officeart/2008/layout/LinedList"/>
    <dgm:cxn modelId="{073F1AC0-45B4-4858-A78A-5976A723173E}" srcId="{C959DC0B-AF66-4F02-8ED9-51254DB8B234}" destId="{8606F623-3908-4DAE-B5BE-05A165FC47AF}" srcOrd="5" destOrd="0" parTransId="{548DB169-2C7F-450D-B11E-A904A34C3038}" sibTransId="{A2BDADDC-E455-46B7-B220-ECB245830E2C}"/>
    <dgm:cxn modelId="{D89EA5D9-D5A2-4B7B-A9AB-8B84104AC3D6}" type="presOf" srcId="{12E9F291-36CF-43DA-857F-5C47702166FD}" destId="{ADDAE275-533D-463F-9ED8-6CAEBAFCA10D}" srcOrd="0" destOrd="0" presId="urn:microsoft.com/office/officeart/2008/layout/LinedList"/>
    <dgm:cxn modelId="{B621FEDA-C292-40DA-8730-DBCE805727C4}" type="presOf" srcId="{C959DC0B-AF66-4F02-8ED9-51254DB8B234}" destId="{9B686720-56BB-421C-A819-015D754FC9B0}" srcOrd="0" destOrd="0" presId="urn:microsoft.com/office/officeart/2008/layout/LinedList"/>
    <dgm:cxn modelId="{75CCB2DC-AF98-4D9D-99A0-6CB53D4EE800}" type="presOf" srcId="{D8340173-B895-4129-B691-02BE60087DB0}" destId="{EF2EB6A9-2341-4774-93A4-DCDD81D7F5EF}" srcOrd="0" destOrd="0" presId="urn:microsoft.com/office/officeart/2008/layout/LinedList"/>
    <dgm:cxn modelId="{E7B1ECE2-831B-4A41-AAB1-9F73267E1297}" srcId="{C959DC0B-AF66-4F02-8ED9-51254DB8B234}" destId="{6C07573C-2573-4DAC-B684-C68CEAE38866}" srcOrd="7" destOrd="0" parTransId="{7CD42BC6-22FA-449A-AB24-5D42F67DBA7A}" sibTransId="{316EB579-AAA6-459D-903B-E54B355A5330}"/>
    <dgm:cxn modelId="{9D9582E9-BEC0-43D5-94DE-4CD909436915}" type="presOf" srcId="{8606F623-3908-4DAE-B5BE-05A165FC47AF}" destId="{FA5AC1C5-4B21-4735-9DBC-2F2CCD596F87}" srcOrd="0" destOrd="0" presId="urn:microsoft.com/office/officeart/2008/layout/LinedList"/>
    <dgm:cxn modelId="{AB35E2ED-F852-4841-B600-B5DDE18C198E}" srcId="{C959DC0B-AF66-4F02-8ED9-51254DB8B234}" destId="{56CA3174-A436-419C-88E4-23FBD310D383}" srcOrd="1" destOrd="0" parTransId="{CB46CDBD-A6C4-4DE5-9C75-0C6910930EBD}" sibTransId="{E6957ED6-AA84-41DF-A9AA-9F5558050011}"/>
    <dgm:cxn modelId="{1FF5F07F-EA75-44BB-985D-2A1EB65C9FC2}" type="presParOf" srcId="{9B686720-56BB-421C-A819-015D754FC9B0}" destId="{714DB013-21EF-429B-BB5A-51D7CE7D0C5A}" srcOrd="0" destOrd="0" presId="urn:microsoft.com/office/officeart/2008/layout/LinedList"/>
    <dgm:cxn modelId="{DE18F511-44F3-4102-9DC0-BA1EA47764AB}" type="presParOf" srcId="{9B686720-56BB-421C-A819-015D754FC9B0}" destId="{96ECCEE4-47A1-4A41-A05C-AECAB6736F1A}" srcOrd="1" destOrd="0" presId="urn:microsoft.com/office/officeart/2008/layout/LinedList"/>
    <dgm:cxn modelId="{BED61030-4A4A-4803-B411-47774F65C20C}" type="presParOf" srcId="{96ECCEE4-47A1-4A41-A05C-AECAB6736F1A}" destId="{ADDAE275-533D-463F-9ED8-6CAEBAFCA10D}" srcOrd="0" destOrd="0" presId="urn:microsoft.com/office/officeart/2008/layout/LinedList"/>
    <dgm:cxn modelId="{00D040F2-9BB8-4BB3-BCF6-E314C8BDB0F4}" type="presParOf" srcId="{96ECCEE4-47A1-4A41-A05C-AECAB6736F1A}" destId="{4D2329FF-A3E0-47C6-9507-FEC2754ADCC2}" srcOrd="1" destOrd="0" presId="urn:microsoft.com/office/officeart/2008/layout/LinedList"/>
    <dgm:cxn modelId="{70D3582E-8E57-413E-915B-C3A3D09D3BEC}" type="presParOf" srcId="{9B686720-56BB-421C-A819-015D754FC9B0}" destId="{3CD37664-578A-4838-B0A6-18A8EE3ED03C}" srcOrd="2" destOrd="0" presId="urn:microsoft.com/office/officeart/2008/layout/LinedList"/>
    <dgm:cxn modelId="{97AC1A57-14E3-4CBA-B58C-6337573329CB}" type="presParOf" srcId="{9B686720-56BB-421C-A819-015D754FC9B0}" destId="{B7A5A1C1-8093-42A8-A80A-01C0D08AE781}" srcOrd="3" destOrd="0" presId="urn:microsoft.com/office/officeart/2008/layout/LinedList"/>
    <dgm:cxn modelId="{C754E744-E93D-4889-98CF-4A155E7B19E4}" type="presParOf" srcId="{B7A5A1C1-8093-42A8-A80A-01C0D08AE781}" destId="{AD68D047-B12B-44B4-A47E-CCC0EF654F52}" srcOrd="0" destOrd="0" presId="urn:microsoft.com/office/officeart/2008/layout/LinedList"/>
    <dgm:cxn modelId="{46EF6417-D331-43DF-809C-4B0EDBA0DA7A}" type="presParOf" srcId="{B7A5A1C1-8093-42A8-A80A-01C0D08AE781}" destId="{F9E17CC8-154C-4C1A-9744-48C6E4882FF3}" srcOrd="1" destOrd="0" presId="urn:microsoft.com/office/officeart/2008/layout/LinedList"/>
    <dgm:cxn modelId="{F852B9F3-4BE1-4EC8-8F1C-83FC5688362F}" type="presParOf" srcId="{9B686720-56BB-421C-A819-015D754FC9B0}" destId="{27A3341B-3247-48BB-8175-DA537332CDB0}" srcOrd="4" destOrd="0" presId="urn:microsoft.com/office/officeart/2008/layout/LinedList"/>
    <dgm:cxn modelId="{E55494C9-2299-46CE-B356-B08972D22677}" type="presParOf" srcId="{9B686720-56BB-421C-A819-015D754FC9B0}" destId="{53024E0D-2113-42BF-AC99-5FC65F0D0B54}" srcOrd="5" destOrd="0" presId="urn:microsoft.com/office/officeart/2008/layout/LinedList"/>
    <dgm:cxn modelId="{A78CE25F-13CD-4F30-B93E-8DDF8314D50F}" type="presParOf" srcId="{53024E0D-2113-42BF-AC99-5FC65F0D0B54}" destId="{03C017F2-B019-4DBB-BF05-C171BADB8F5B}" srcOrd="0" destOrd="0" presId="urn:microsoft.com/office/officeart/2008/layout/LinedList"/>
    <dgm:cxn modelId="{F7814AB7-F1DF-4731-B6DC-992A57A1033B}" type="presParOf" srcId="{53024E0D-2113-42BF-AC99-5FC65F0D0B54}" destId="{0957251F-95E5-42CF-865C-38325B367283}" srcOrd="1" destOrd="0" presId="urn:microsoft.com/office/officeart/2008/layout/LinedList"/>
    <dgm:cxn modelId="{558AC9C1-B366-4C78-BB1E-3C8F037749D9}" type="presParOf" srcId="{9B686720-56BB-421C-A819-015D754FC9B0}" destId="{EBF3E295-2E72-499C-B577-ED2F40448A8A}" srcOrd="6" destOrd="0" presId="urn:microsoft.com/office/officeart/2008/layout/LinedList"/>
    <dgm:cxn modelId="{30480BFB-41E3-4D9F-9229-A2146D580DF7}" type="presParOf" srcId="{9B686720-56BB-421C-A819-015D754FC9B0}" destId="{7FB5E478-91AC-4AE4-83A1-8DBDA9A29346}" srcOrd="7" destOrd="0" presId="urn:microsoft.com/office/officeart/2008/layout/LinedList"/>
    <dgm:cxn modelId="{81A5AA05-7D41-4110-BE94-84428CD3A02B}" type="presParOf" srcId="{7FB5E478-91AC-4AE4-83A1-8DBDA9A29346}" destId="{EF2EB6A9-2341-4774-93A4-DCDD81D7F5EF}" srcOrd="0" destOrd="0" presId="urn:microsoft.com/office/officeart/2008/layout/LinedList"/>
    <dgm:cxn modelId="{9F7BC369-53B1-46EE-AF84-11A731448B45}" type="presParOf" srcId="{7FB5E478-91AC-4AE4-83A1-8DBDA9A29346}" destId="{B5D58A24-794C-40F4-A7C6-BECC86ED59AB}" srcOrd="1" destOrd="0" presId="urn:microsoft.com/office/officeart/2008/layout/LinedList"/>
    <dgm:cxn modelId="{F166F40A-571B-45E7-865F-9F2F1DA75C9E}" type="presParOf" srcId="{9B686720-56BB-421C-A819-015D754FC9B0}" destId="{2B74B046-FA78-4260-AB81-7612F62C119F}" srcOrd="8" destOrd="0" presId="urn:microsoft.com/office/officeart/2008/layout/LinedList"/>
    <dgm:cxn modelId="{A2809F0D-BABE-4F1F-BDD4-8620A905030B}" type="presParOf" srcId="{9B686720-56BB-421C-A819-015D754FC9B0}" destId="{138CD6FD-3086-4534-940C-571EB5817594}" srcOrd="9" destOrd="0" presId="urn:microsoft.com/office/officeart/2008/layout/LinedList"/>
    <dgm:cxn modelId="{152E48B9-E355-401A-BFB4-3FC301D4B8F7}" type="presParOf" srcId="{138CD6FD-3086-4534-940C-571EB5817594}" destId="{CDC748DE-89E5-45DA-9511-DF1A54606FFB}" srcOrd="0" destOrd="0" presId="urn:microsoft.com/office/officeart/2008/layout/LinedList"/>
    <dgm:cxn modelId="{D3C4B820-37C8-4AC4-9D18-64FCFB4E6E58}" type="presParOf" srcId="{138CD6FD-3086-4534-940C-571EB5817594}" destId="{CCC30D88-6E1D-4EC7-BA94-8BD49E5C847C}" srcOrd="1" destOrd="0" presId="urn:microsoft.com/office/officeart/2008/layout/LinedList"/>
    <dgm:cxn modelId="{818DC995-EC24-44B1-B044-D1E34E8B62D5}" type="presParOf" srcId="{9B686720-56BB-421C-A819-015D754FC9B0}" destId="{F74A69F4-3E34-453F-96BB-785DEED9F1A1}" srcOrd="10" destOrd="0" presId="urn:microsoft.com/office/officeart/2008/layout/LinedList"/>
    <dgm:cxn modelId="{D6405442-3191-44AC-8202-D21CD4280323}" type="presParOf" srcId="{9B686720-56BB-421C-A819-015D754FC9B0}" destId="{2976AB37-4EA2-4BDD-B3BD-851DB1BF30ED}" srcOrd="11" destOrd="0" presId="urn:microsoft.com/office/officeart/2008/layout/LinedList"/>
    <dgm:cxn modelId="{14A8D0E2-0947-4474-B0C2-AE71332297AB}" type="presParOf" srcId="{2976AB37-4EA2-4BDD-B3BD-851DB1BF30ED}" destId="{FA5AC1C5-4B21-4735-9DBC-2F2CCD596F87}" srcOrd="0" destOrd="0" presId="urn:microsoft.com/office/officeart/2008/layout/LinedList"/>
    <dgm:cxn modelId="{111EFD06-61A9-49D5-80E7-20D3CDFF8899}" type="presParOf" srcId="{2976AB37-4EA2-4BDD-B3BD-851DB1BF30ED}" destId="{72398812-BFC4-4486-AACB-1451555593C7}" srcOrd="1" destOrd="0" presId="urn:microsoft.com/office/officeart/2008/layout/LinedList"/>
    <dgm:cxn modelId="{3C9F1F12-287A-44DF-8E2A-506AE6F5B29A}" type="presParOf" srcId="{9B686720-56BB-421C-A819-015D754FC9B0}" destId="{81D15739-9056-4F2E-BD28-67819EBE976C}" srcOrd="12" destOrd="0" presId="urn:microsoft.com/office/officeart/2008/layout/LinedList"/>
    <dgm:cxn modelId="{0B644A0E-F9DB-4DAC-A338-DA2E78723F38}" type="presParOf" srcId="{9B686720-56BB-421C-A819-015D754FC9B0}" destId="{D281EBFA-42A4-4E2B-B980-8EC21234B483}" srcOrd="13" destOrd="0" presId="urn:microsoft.com/office/officeart/2008/layout/LinedList"/>
    <dgm:cxn modelId="{C235D28B-17BC-41AB-AB95-D497B5C8A352}" type="presParOf" srcId="{D281EBFA-42A4-4E2B-B980-8EC21234B483}" destId="{6C3A250B-59E1-47C6-8B27-5673BFA5DB1F}" srcOrd="0" destOrd="0" presId="urn:microsoft.com/office/officeart/2008/layout/LinedList"/>
    <dgm:cxn modelId="{E6A61C76-8A42-4139-B19E-3B459D56B646}" type="presParOf" srcId="{D281EBFA-42A4-4E2B-B980-8EC21234B483}" destId="{AC208B68-B093-4E1C-95DE-8DB46169BBF3}" srcOrd="1" destOrd="0" presId="urn:microsoft.com/office/officeart/2008/layout/LinedList"/>
    <dgm:cxn modelId="{CE7CF351-3DA2-4660-BC77-78BAD5587178}" type="presParOf" srcId="{9B686720-56BB-421C-A819-015D754FC9B0}" destId="{5F05563B-55F3-4D3D-9DF7-B6A81E9ACDD0}" srcOrd="14" destOrd="0" presId="urn:microsoft.com/office/officeart/2008/layout/LinedList"/>
    <dgm:cxn modelId="{38616E95-3FD8-4916-8B41-9105311E27E2}" type="presParOf" srcId="{9B686720-56BB-421C-A819-015D754FC9B0}" destId="{9E7B50C2-B295-43E7-8E80-D5FAFD297CD4}" srcOrd="15" destOrd="0" presId="urn:microsoft.com/office/officeart/2008/layout/LinedList"/>
    <dgm:cxn modelId="{F193A07B-97DE-4491-BED5-9A783A4CE7EF}" type="presParOf" srcId="{9E7B50C2-B295-43E7-8E80-D5FAFD297CD4}" destId="{EF00A9B2-D828-4EF4-A6C8-D834046A65B4}" srcOrd="0" destOrd="0" presId="urn:microsoft.com/office/officeart/2008/layout/LinedList"/>
    <dgm:cxn modelId="{F87334E5-DC9E-42FA-8D6F-6C30B15E2695}" type="presParOf" srcId="{9E7B50C2-B295-43E7-8E80-D5FAFD297CD4}" destId="{F92386C1-B0E8-4C80-ACA6-A76701E2C58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854BB-8237-4EA3-BCF9-4020F5C526C6}">
      <dsp:nvSpPr>
        <dsp:cNvPr id="0" name=""/>
        <dsp:cNvSpPr/>
      </dsp:nvSpPr>
      <dsp:spPr>
        <a:xfrm>
          <a:off x="82613" y="908559"/>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C79E5F-5835-4E4E-9813-B4725990ACEA}">
      <dsp:nvSpPr>
        <dsp:cNvPr id="0" name=""/>
        <dsp:cNvSpPr/>
      </dsp:nvSpPr>
      <dsp:spPr>
        <a:xfrm>
          <a:off x="271034"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EE7495-C101-4C05-849F-75B4526C18B5}">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dirty="0"/>
            <a:t>The data has 10001 rows in total.</a:t>
          </a:r>
        </a:p>
      </dsp:txBody>
      <dsp:txXfrm>
        <a:off x="1172126" y="908559"/>
        <a:ext cx="2114937" cy="897246"/>
      </dsp:txXfrm>
    </dsp:sp>
    <dsp:sp modelId="{2C0D7027-B76B-4BDD-AA4A-8668427CEFB1}">
      <dsp:nvSpPr>
        <dsp:cNvPr id="0" name=""/>
        <dsp:cNvSpPr/>
      </dsp:nvSpPr>
      <dsp:spPr>
        <a:xfrm>
          <a:off x="3655575" y="908559"/>
          <a:ext cx="897246" cy="897246"/>
        </a:xfrm>
        <a:prstGeom prst="ellipse">
          <a:avLst/>
        </a:prstGeom>
        <a:solidFill>
          <a:schemeClr val="accent5">
            <a:hueOff val="-2430430"/>
            <a:satOff val="-165"/>
            <a:lumOff val="392"/>
            <a:alphaOff val="0"/>
          </a:schemeClr>
        </a:solidFill>
        <a:ln>
          <a:noFill/>
        </a:ln>
        <a:effectLst/>
      </dsp:spPr>
      <dsp:style>
        <a:lnRef idx="0">
          <a:scrgbClr r="0" g="0" b="0"/>
        </a:lnRef>
        <a:fillRef idx="1">
          <a:scrgbClr r="0" g="0" b="0"/>
        </a:fillRef>
        <a:effectRef idx="0">
          <a:scrgbClr r="0" g="0" b="0"/>
        </a:effectRef>
        <a:fontRef idx="minor"/>
      </dsp:style>
    </dsp:sp>
    <dsp:sp modelId="{5E9F99DF-422B-40BA-ADA0-C00C3990F501}">
      <dsp:nvSpPr>
        <dsp:cNvPr id="0" name=""/>
        <dsp:cNvSpPr/>
      </dsp:nvSpPr>
      <dsp:spPr>
        <a:xfrm>
          <a:off x="3843996"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4AF4AC-B6A4-4CFF-8F5D-17D181BEDA79}">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dirty="0"/>
            <a:t>It runs from January – March 2026</a:t>
          </a:r>
        </a:p>
      </dsp:txBody>
      <dsp:txXfrm>
        <a:off x="4745088" y="908559"/>
        <a:ext cx="2114937" cy="897246"/>
      </dsp:txXfrm>
    </dsp:sp>
    <dsp:sp modelId="{E5DCF8F5-4B0D-4CFB-9414-9839828F999F}">
      <dsp:nvSpPr>
        <dsp:cNvPr id="0" name=""/>
        <dsp:cNvSpPr/>
      </dsp:nvSpPr>
      <dsp:spPr>
        <a:xfrm>
          <a:off x="7228536" y="908559"/>
          <a:ext cx="897246" cy="897246"/>
        </a:xfrm>
        <a:prstGeom prst="ellipse">
          <a:avLst/>
        </a:prstGeom>
        <a:solidFill>
          <a:schemeClr val="accent5">
            <a:hueOff val="-4860860"/>
            <a:satOff val="-330"/>
            <a:lumOff val="784"/>
            <a:alphaOff val="0"/>
          </a:schemeClr>
        </a:solidFill>
        <a:ln>
          <a:noFill/>
        </a:ln>
        <a:effectLst/>
      </dsp:spPr>
      <dsp:style>
        <a:lnRef idx="0">
          <a:scrgbClr r="0" g="0" b="0"/>
        </a:lnRef>
        <a:fillRef idx="1">
          <a:scrgbClr r="0" g="0" b="0"/>
        </a:fillRef>
        <a:effectRef idx="0">
          <a:scrgbClr r="0" g="0" b="0"/>
        </a:effectRef>
        <a:fontRef idx="minor"/>
      </dsp:style>
    </dsp:sp>
    <dsp:sp modelId="{0EAB7B43-6C92-4C43-9C35-9D92F7912054}">
      <dsp:nvSpPr>
        <dsp:cNvPr id="0" name=""/>
        <dsp:cNvSpPr/>
      </dsp:nvSpPr>
      <dsp:spPr>
        <a:xfrm>
          <a:off x="7416958"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8BDA82-F32A-46F1-A482-14E4FD9082D0}">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10000 Total Session.</a:t>
          </a:r>
        </a:p>
      </dsp:txBody>
      <dsp:txXfrm>
        <a:off x="8318049" y="908559"/>
        <a:ext cx="2114937" cy="897246"/>
      </dsp:txXfrm>
    </dsp:sp>
    <dsp:sp modelId="{CEBD2EEC-2451-46AB-B1C9-87FC563A2F1D}">
      <dsp:nvSpPr>
        <dsp:cNvPr id="0" name=""/>
        <dsp:cNvSpPr/>
      </dsp:nvSpPr>
      <dsp:spPr>
        <a:xfrm>
          <a:off x="82613" y="2545532"/>
          <a:ext cx="897246" cy="897246"/>
        </a:xfrm>
        <a:prstGeom prst="ellipse">
          <a:avLst/>
        </a:prstGeom>
        <a:solidFill>
          <a:schemeClr val="accent5">
            <a:hueOff val="-7291290"/>
            <a:satOff val="-496"/>
            <a:lumOff val="1177"/>
            <a:alphaOff val="0"/>
          </a:schemeClr>
        </a:solidFill>
        <a:ln>
          <a:noFill/>
        </a:ln>
        <a:effectLst/>
      </dsp:spPr>
      <dsp:style>
        <a:lnRef idx="0">
          <a:scrgbClr r="0" g="0" b="0"/>
        </a:lnRef>
        <a:fillRef idx="1">
          <a:scrgbClr r="0" g="0" b="0"/>
        </a:fillRef>
        <a:effectRef idx="0">
          <a:scrgbClr r="0" g="0" b="0"/>
        </a:effectRef>
        <a:fontRef idx="minor"/>
      </dsp:style>
    </dsp:sp>
    <dsp:sp modelId="{3FC9EEA1-0814-4B06-82A3-A67C149E698E}">
      <dsp:nvSpPr>
        <dsp:cNvPr id="0" name=""/>
        <dsp:cNvSpPr/>
      </dsp:nvSpPr>
      <dsp:spPr>
        <a:xfrm>
          <a:off x="271034"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65D336-1EA7-417C-9C8C-E2813518116A}">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4386 Subscribers</a:t>
          </a:r>
        </a:p>
      </dsp:txBody>
      <dsp:txXfrm>
        <a:off x="1172126" y="2545532"/>
        <a:ext cx="2114937" cy="897246"/>
      </dsp:txXfrm>
    </dsp:sp>
    <dsp:sp modelId="{F7E68677-7D7F-42E5-9D7B-34A4B20927E5}">
      <dsp:nvSpPr>
        <dsp:cNvPr id="0" name=""/>
        <dsp:cNvSpPr/>
      </dsp:nvSpPr>
      <dsp:spPr>
        <a:xfrm>
          <a:off x="3655575" y="2545532"/>
          <a:ext cx="897246" cy="897246"/>
        </a:xfrm>
        <a:prstGeom prst="ellipse">
          <a:avLst/>
        </a:prstGeom>
        <a:solidFill>
          <a:schemeClr val="accent5">
            <a:hueOff val="-9721720"/>
            <a:satOff val="-661"/>
            <a:lumOff val="1569"/>
            <a:alphaOff val="0"/>
          </a:schemeClr>
        </a:solidFill>
        <a:ln>
          <a:noFill/>
        </a:ln>
        <a:effectLst/>
      </dsp:spPr>
      <dsp:style>
        <a:lnRef idx="0">
          <a:scrgbClr r="0" g="0" b="0"/>
        </a:lnRef>
        <a:fillRef idx="1">
          <a:scrgbClr r="0" g="0" b="0"/>
        </a:fillRef>
        <a:effectRef idx="0">
          <a:scrgbClr r="0" g="0" b="0"/>
        </a:effectRef>
        <a:fontRef idx="minor"/>
      </dsp:style>
    </dsp:sp>
    <dsp:sp modelId="{24946B79-AD98-49B9-910A-2ADA306B3495}">
      <dsp:nvSpPr>
        <dsp:cNvPr id="0" name=""/>
        <dsp:cNvSpPr/>
      </dsp:nvSpPr>
      <dsp:spPr>
        <a:xfrm>
          <a:off x="3843996"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103444-AC1D-4E71-BAB4-2B51A0E12D21}">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Average duration of 0.15</a:t>
          </a:r>
        </a:p>
      </dsp:txBody>
      <dsp:txXfrm>
        <a:off x="4745088" y="2545532"/>
        <a:ext cx="2114937" cy="897246"/>
      </dsp:txXfrm>
    </dsp:sp>
    <dsp:sp modelId="{4BEDC417-EA18-4404-84A7-9EF3B33334E9}">
      <dsp:nvSpPr>
        <dsp:cNvPr id="0" name=""/>
        <dsp:cNvSpPr/>
      </dsp:nvSpPr>
      <dsp:spPr>
        <a:xfrm>
          <a:off x="7228536" y="2545532"/>
          <a:ext cx="897246" cy="897246"/>
        </a:xfrm>
        <a:prstGeom prst="ellipse">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dsp:style>
    </dsp:sp>
    <dsp:sp modelId="{C3EB8C6A-657C-4FBA-8A6C-561446CE47B8}">
      <dsp:nvSpPr>
        <dsp:cNvPr id="0" name=""/>
        <dsp:cNvSpPr/>
      </dsp:nvSpPr>
      <dsp:spPr>
        <a:xfrm>
          <a:off x="7416958"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84CCA8-20D5-4E0F-8A32-126D4F380788}">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dirty="0"/>
            <a:t>Total Watch time of </a:t>
          </a:r>
          <a:r>
            <a:rPr lang="en-ZA" sz="2100" b="0" i="0" u="none" kern="1200" dirty="0"/>
            <a:t>5482803</a:t>
          </a:r>
          <a:r>
            <a:rPr lang="en-ZA" sz="2100" kern="1200" dirty="0"/>
            <a:t> in seconds </a:t>
          </a:r>
          <a:endParaRPr lang="en-US" sz="2100" kern="1200" dirty="0"/>
        </a:p>
      </dsp:txBody>
      <dsp:txXfrm>
        <a:off x="8318049" y="2545532"/>
        <a:ext cx="2114937" cy="8972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4DB013-21EF-429B-BB5A-51D7CE7D0C5A}">
      <dsp:nvSpPr>
        <dsp:cNvPr id="0" name=""/>
        <dsp:cNvSpPr/>
      </dsp:nvSpPr>
      <dsp:spPr>
        <a:xfrm>
          <a:off x="0" y="0"/>
          <a:ext cx="7772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DAE275-533D-463F-9ED8-6CAEBAFCA10D}">
      <dsp:nvSpPr>
        <dsp:cNvPr id="0" name=""/>
        <dsp:cNvSpPr/>
      </dsp:nvSpPr>
      <dsp:spPr>
        <a:xfrm>
          <a:off x="0" y="0"/>
          <a:ext cx="7772399" cy="803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ZA" sz="1700" b="1" kern="1200"/>
            <a:t>Viewership is growing:</a:t>
          </a:r>
          <a:r>
            <a:rPr lang="en-ZA" sz="1700" kern="1200"/>
            <a:t> Viewership increased consistently from January to March 2026.</a:t>
          </a:r>
          <a:endParaRPr lang="en-US" sz="1700" kern="1200"/>
        </a:p>
      </dsp:txBody>
      <dsp:txXfrm>
        <a:off x="0" y="0"/>
        <a:ext cx="7772399" cy="803996"/>
      </dsp:txXfrm>
    </dsp:sp>
    <dsp:sp modelId="{3CD37664-578A-4838-B0A6-18A8EE3ED03C}">
      <dsp:nvSpPr>
        <dsp:cNvPr id="0" name=""/>
        <dsp:cNvSpPr/>
      </dsp:nvSpPr>
      <dsp:spPr>
        <a:xfrm>
          <a:off x="0" y="803996"/>
          <a:ext cx="7772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68D047-B12B-44B4-A47E-CCC0EF654F52}">
      <dsp:nvSpPr>
        <dsp:cNvPr id="0" name=""/>
        <dsp:cNvSpPr/>
      </dsp:nvSpPr>
      <dsp:spPr>
        <a:xfrm>
          <a:off x="0" y="803996"/>
          <a:ext cx="7772399" cy="803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ZA" sz="1700" b="1" kern="1200"/>
            <a:t>Afternoons are the prime viewing period:</a:t>
          </a:r>
          <a:r>
            <a:rPr lang="en-ZA" sz="1700" kern="1200"/>
            <a:t> Weekdays and afternoons attract the most viewers, while midnight has the lowest engagement.</a:t>
          </a:r>
          <a:endParaRPr lang="en-US" sz="1700" kern="1200"/>
        </a:p>
      </dsp:txBody>
      <dsp:txXfrm>
        <a:off x="0" y="803996"/>
        <a:ext cx="7772399" cy="803996"/>
      </dsp:txXfrm>
    </dsp:sp>
    <dsp:sp modelId="{27A3341B-3247-48BB-8175-DA537332CDB0}">
      <dsp:nvSpPr>
        <dsp:cNvPr id="0" name=""/>
        <dsp:cNvSpPr/>
      </dsp:nvSpPr>
      <dsp:spPr>
        <a:xfrm>
          <a:off x="0" y="1607993"/>
          <a:ext cx="7772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017F2-B019-4DBB-BF05-C171BADB8F5B}">
      <dsp:nvSpPr>
        <dsp:cNvPr id="0" name=""/>
        <dsp:cNvSpPr/>
      </dsp:nvSpPr>
      <dsp:spPr>
        <a:xfrm>
          <a:off x="0" y="1607993"/>
          <a:ext cx="7772399" cy="803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ZA" sz="1700" b="1" kern="1200"/>
            <a:t>Male viewers dominate:</a:t>
          </a:r>
          <a:r>
            <a:rPr lang="en-ZA" sz="1700" kern="1200"/>
            <a:t> Males account for </a:t>
          </a:r>
          <a:r>
            <a:rPr lang="en-ZA" sz="1700" b="1" kern="1200"/>
            <a:t>80% of total viewership</a:t>
          </a:r>
          <a:r>
            <a:rPr lang="en-ZA" sz="1700" kern="1200"/>
            <a:t>, with </a:t>
          </a:r>
          <a:r>
            <a:rPr lang="en-ZA" sz="1700" b="1" kern="1200"/>
            <a:t>Black males contributing 38%</a:t>
          </a:r>
          <a:r>
            <a:rPr lang="en-ZA" sz="1700" kern="1200"/>
            <a:t>.</a:t>
          </a:r>
          <a:endParaRPr lang="en-US" sz="1700" kern="1200"/>
        </a:p>
      </dsp:txBody>
      <dsp:txXfrm>
        <a:off x="0" y="1607993"/>
        <a:ext cx="7772399" cy="803996"/>
      </dsp:txXfrm>
    </dsp:sp>
    <dsp:sp modelId="{EBF3E295-2E72-499C-B577-ED2F40448A8A}">
      <dsp:nvSpPr>
        <dsp:cNvPr id="0" name=""/>
        <dsp:cNvSpPr/>
      </dsp:nvSpPr>
      <dsp:spPr>
        <a:xfrm>
          <a:off x="0" y="2411989"/>
          <a:ext cx="7772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2EB6A9-2341-4774-93A4-DCDD81D7F5EF}">
      <dsp:nvSpPr>
        <dsp:cNvPr id="0" name=""/>
        <dsp:cNvSpPr/>
      </dsp:nvSpPr>
      <dsp:spPr>
        <a:xfrm>
          <a:off x="0" y="2411989"/>
          <a:ext cx="7772399" cy="803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ZA" sz="1700" b="1" kern="1200"/>
            <a:t>Gender &amp; Race disclosure remains a gap:</a:t>
          </a:r>
          <a:r>
            <a:rPr lang="en-ZA" sz="1700" kern="1200"/>
            <a:t> </a:t>
          </a:r>
          <a:r>
            <a:rPr lang="en-ZA" sz="1700" b="1" kern="1200"/>
            <a:t>12% of viewers did not disclose their gender or race.</a:t>
          </a:r>
          <a:endParaRPr lang="en-US" sz="1700" kern="1200"/>
        </a:p>
      </dsp:txBody>
      <dsp:txXfrm>
        <a:off x="0" y="2411989"/>
        <a:ext cx="7772399" cy="803996"/>
      </dsp:txXfrm>
    </dsp:sp>
    <dsp:sp modelId="{2B74B046-FA78-4260-AB81-7612F62C119F}">
      <dsp:nvSpPr>
        <dsp:cNvPr id="0" name=""/>
        <dsp:cNvSpPr/>
      </dsp:nvSpPr>
      <dsp:spPr>
        <a:xfrm>
          <a:off x="0" y="3215986"/>
          <a:ext cx="7772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C748DE-89E5-45DA-9511-DF1A54606FFB}">
      <dsp:nvSpPr>
        <dsp:cNvPr id="0" name=""/>
        <dsp:cNvSpPr/>
      </dsp:nvSpPr>
      <dsp:spPr>
        <a:xfrm>
          <a:off x="0" y="3215986"/>
          <a:ext cx="7772399" cy="803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ZA" sz="1700" b="1" kern="1200"/>
            <a:t>Youth leads in age group:</a:t>
          </a:r>
          <a:r>
            <a:rPr lang="en-ZA" sz="1700" kern="1200"/>
            <a:t> Youth make up </a:t>
          </a:r>
          <a:r>
            <a:rPr lang="en-ZA" sz="1700" b="1" kern="1200"/>
            <a:t>57% of viewership</a:t>
          </a:r>
          <a:r>
            <a:rPr lang="en-ZA" sz="1700" kern="1200"/>
            <a:t>, making them Bright TV’s largest age-group audience. </a:t>
          </a:r>
          <a:r>
            <a:rPr lang="en-ZA" sz="1700" kern="1200" dirty="0"/>
            <a:t>Only </a:t>
          </a:r>
          <a:r>
            <a:rPr lang="en-ZA" sz="1700" b="1" kern="1200" dirty="0"/>
            <a:t>0.48% did not disclose their age</a:t>
          </a:r>
          <a:r>
            <a:rPr lang="en-ZA" sz="1700" kern="1200" dirty="0"/>
            <a:t>.</a:t>
          </a:r>
          <a:endParaRPr lang="en-US" sz="1700" kern="1200" dirty="0"/>
        </a:p>
      </dsp:txBody>
      <dsp:txXfrm>
        <a:off x="0" y="3215986"/>
        <a:ext cx="7772399" cy="803996"/>
      </dsp:txXfrm>
    </dsp:sp>
    <dsp:sp modelId="{F74A69F4-3E34-453F-96BB-785DEED9F1A1}">
      <dsp:nvSpPr>
        <dsp:cNvPr id="0" name=""/>
        <dsp:cNvSpPr/>
      </dsp:nvSpPr>
      <dsp:spPr>
        <a:xfrm>
          <a:off x="0" y="4019983"/>
          <a:ext cx="7772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5AC1C5-4B21-4735-9DBC-2F2CCD596F87}">
      <dsp:nvSpPr>
        <dsp:cNvPr id="0" name=""/>
        <dsp:cNvSpPr/>
      </dsp:nvSpPr>
      <dsp:spPr>
        <a:xfrm>
          <a:off x="0" y="4019983"/>
          <a:ext cx="7772399" cy="803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ZA" sz="1700" b="1" kern="1200"/>
            <a:t>Some viewers did not disclose their race:</a:t>
          </a:r>
          <a:r>
            <a:rPr lang="en-ZA" sz="1700" kern="1200"/>
            <a:t> This leaves a small gap in understanding the full racial composition of the audience.</a:t>
          </a:r>
          <a:endParaRPr lang="en-US" sz="1700" kern="1200"/>
        </a:p>
      </dsp:txBody>
      <dsp:txXfrm>
        <a:off x="0" y="4019983"/>
        <a:ext cx="7772399" cy="803996"/>
      </dsp:txXfrm>
    </dsp:sp>
    <dsp:sp modelId="{81D15739-9056-4F2E-BD28-67819EBE976C}">
      <dsp:nvSpPr>
        <dsp:cNvPr id="0" name=""/>
        <dsp:cNvSpPr/>
      </dsp:nvSpPr>
      <dsp:spPr>
        <a:xfrm>
          <a:off x="0" y="4823979"/>
          <a:ext cx="7772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250B-59E1-47C6-8B27-5673BFA5DB1F}">
      <dsp:nvSpPr>
        <dsp:cNvPr id="0" name=""/>
        <dsp:cNvSpPr/>
      </dsp:nvSpPr>
      <dsp:spPr>
        <a:xfrm>
          <a:off x="0" y="4823979"/>
          <a:ext cx="7772399" cy="803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ZA" sz="1700" b="1" kern="1200" dirty="0"/>
            <a:t>Female viewership is low:</a:t>
          </a:r>
          <a:r>
            <a:rPr lang="en-ZA" sz="1700" kern="1200" dirty="0"/>
            <a:t> Females account for only </a:t>
          </a:r>
          <a:r>
            <a:rPr lang="en-ZA" sz="1700" b="1" kern="1200" dirty="0"/>
            <a:t>8% of total viewership</a:t>
          </a:r>
          <a:r>
            <a:rPr lang="en-ZA" sz="1700" kern="1200" dirty="0"/>
            <a:t>, with </a:t>
          </a:r>
          <a:r>
            <a:rPr lang="en-ZA" sz="1700" b="1" kern="1200" dirty="0"/>
            <a:t>Black females contributing 5%</a:t>
          </a:r>
          <a:r>
            <a:rPr lang="en-ZA" sz="1700" kern="1200" dirty="0"/>
            <a:t>.</a:t>
          </a:r>
          <a:endParaRPr lang="en-US" sz="1700" kern="1200" dirty="0"/>
        </a:p>
      </dsp:txBody>
      <dsp:txXfrm>
        <a:off x="0" y="4823979"/>
        <a:ext cx="7772399" cy="803996"/>
      </dsp:txXfrm>
    </dsp:sp>
    <dsp:sp modelId="{5F05563B-55F3-4D3D-9DF7-B6A81E9ACDD0}">
      <dsp:nvSpPr>
        <dsp:cNvPr id="0" name=""/>
        <dsp:cNvSpPr/>
      </dsp:nvSpPr>
      <dsp:spPr>
        <a:xfrm>
          <a:off x="0" y="5627976"/>
          <a:ext cx="7772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00A9B2-D828-4EF4-A6C8-D834046A65B4}">
      <dsp:nvSpPr>
        <dsp:cNvPr id="0" name=""/>
        <dsp:cNvSpPr/>
      </dsp:nvSpPr>
      <dsp:spPr>
        <a:xfrm>
          <a:off x="0" y="5627976"/>
          <a:ext cx="7772399" cy="803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ZA" sz="1700" b="1" kern="1200"/>
            <a:t>Gauteng leads viewership:</a:t>
          </a:r>
          <a:r>
            <a:rPr lang="en-ZA" sz="1700" kern="1200"/>
            <a:t> </a:t>
          </a:r>
          <a:r>
            <a:rPr lang="en-ZA" sz="1700" b="1" kern="1200"/>
            <a:t>Johannesburg has the largest viewer base</a:t>
          </a:r>
          <a:r>
            <a:rPr lang="en-ZA" sz="1700" kern="1200"/>
            <a:t>, followed by the </a:t>
          </a:r>
          <a:r>
            <a:rPr lang="en-ZA" sz="1700" b="1" kern="1200"/>
            <a:t>Western Cape</a:t>
          </a:r>
          <a:r>
            <a:rPr lang="en-ZA" sz="1700" kern="1200"/>
            <a:t>.</a:t>
          </a:r>
          <a:endParaRPr lang="en-US" sz="1700" kern="1200"/>
        </a:p>
      </dsp:txBody>
      <dsp:txXfrm>
        <a:off x="0" y="5627976"/>
        <a:ext cx="7772399" cy="80399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A232E-1861-F466-5D73-0B7EAE3BC8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9C51B72-65FB-706A-EC1B-D3AC0B7542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8CFEF322-CF8D-F289-4A54-B48113206857}"/>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5" name="Footer Placeholder 4">
            <a:extLst>
              <a:ext uri="{FF2B5EF4-FFF2-40B4-BE49-F238E27FC236}">
                <a16:creationId xmlns:a16="http://schemas.microsoft.com/office/drawing/2014/main" id="{463BF687-C0B0-D6D6-2AA5-5228C744729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33AE4CC-DDFD-69D0-BB84-DBBDC5433046}"/>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474070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BCD0B-E484-1C75-6885-2D367F20D3D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F76CBCDC-DA8F-D157-7B9A-D3B66A1CCE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C2AB490-F530-E41A-6EE6-46E4E225D6E9}"/>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5" name="Footer Placeholder 4">
            <a:extLst>
              <a:ext uri="{FF2B5EF4-FFF2-40B4-BE49-F238E27FC236}">
                <a16:creationId xmlns:a16="http://schemas.microsoft.com/office/drawing/2014/main" id="{F2E6E1E4-D413-87C1-DB99-87D06471D4E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F71CEC4-9070-F432-A076-257644BE1184}"/>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212038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C2D14-B6B4-EB9A-9D81-80A3810C05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42646D0F-B89E-0D6C-DBAD-2DD7DEFC47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7A1314-FDED-6BC2-BE73-6850AA737A6F}"/>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5" name="Footer Placeholder 4">
            <a:extLst>
              <a:ext uri="{FF2B5EF4-FFF2-40B4-BE49-F238E27FC236}">
                <a16:creationId xmlns:a16="http://schemas.microsoft.com/office/drawing/2014/main" id="{617260A6-B81A-145F-75D1-90845151DC7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E1421A3-095C-4778-37E0-70DA52066D04}"/>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1704662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CE275-0FAB-71D7-EB01-505B097A25F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66FFDEA2-A058-C111-EE67-5044B71A43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7EBD644D-B3F1-5826-0717-2AD43B2531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0D50C9B-509A-D3A1-8987-6CD60F95D5AB}"/>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6" name="Footer Placeholder 5">
            <a:extLst>
              <a:ext uri="{FF2B5EF4-FFF2-40B4-BE49-F238E27FC236}">
                <a16:creationId xmlns:a16="http://schemas.microsoft.com/office/drawing/2014/main" id="{B1D61439-6B8F-1E8B-56C6-E6A12D42C64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70C90E7-2C0B-83E7-8A18-8A3CEDC6008A}"/>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397818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110A-ADE6-F849-66B5-06A6717D8B58}"/>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16EAFAF-58BC-DF74-C43F-4DB55A9F3C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3653B3-785C-57AE-B2C8-FF80DF8171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CF3D6419-3E2B-451E-97B3-5151C0728D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F4DB3E-0902-9264-5095-2CD15B067A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85136ABE-7616-953F-75C1-B68612D3CC4F}"/>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8" name="Footer Placeholder 7">
            <a:extLst>
              <a:ext uri="{FF2B5EF4-FFF2-40B4-BE49-F238E27FC236}">
                <a16:creationId xmlns:a16="http://schemas.microsoft.com/office/drawing/2014/main" id="{A0053665-E015-B8D2-D04D-281E8195DF6A}"/>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F6D3E7A1-4F36-2714-4D0F-BDD530F29C0C}"/>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2385958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7ACEF-F5C6-5A60-920E-201BAE59B993}"/>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F2AA884E-AF48-05DC-B0E2-0C381557C9F6}"/>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4" name="Footer Placeholder 3">
            <a:extLst>
              <a:ext uri="{FF2B5EF4-FFF2-40B4-BE49-F238E27FC236}">
                <a16:creationId xmlns:a16="http://schemas.microsoft.com/office/drawing/2014/main" id="{7A625BF4-1354-351F-C40A-2F2C53CBB293}"/>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FDB52A9A-BCB0-77F8-8A3D-D157938FBC10}"/>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369070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93D148-DAC1-ED99-B97D-17CD8D4D4A5F}"/>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3" name="Footer Placeholder 2">
            <a:extLst>
              <a:ext uri="{FF2B5EF4-FFF2-40B4-BE49-F238E27FC236}">
                <a16:creationId xmlns:a16="http://schemas.microsoft.com/office/drawing/2014/main" id="{19655205-21C7-7A72-02EA-0A39C05F51A3}"/>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588096E3-FED3-2115-DD23-31E7FFC993F0}"/>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2555335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66929-C382-C6EB-575C-4364DC6050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A35DA0B9-DFBF-F8FE-1A30-24E144E6F9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4C9EFDD2-D48C-F4AF-A9E5-E2D9BBDFA6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D0BCFC-AFB5-266C-D2AC-86D2D0DC0303}"/>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6" name="Footer Placeholder 5">
            <a:extLst>
              <a:ext uri="{FF2B5EF4-FFF2-40B4-BE49-F238E27FC236}">
                <a16:creationId xmlns:a16="http://schemas.microsoft.com/office/drawing/2014/main" id="{34F41FE6-7628-26AA-5B48-68AB542F5D1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3B92A35-78B9-6BAD-126E-CB869F699E24}"/>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3797888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91EC0-943B-0B5E-7552-7E8F172410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53C8D0CC-2EC8-72C2-2356-853EA2E282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7C72D4FA-89E5-352C-E904-85A576B84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C3CBF3-CA52-068E-5D7A-639537067F81}"/>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6" name="Footer Placeholder 5">
            <a:extLst>
              <a:ext uri="{FF2B5EF4-FFF2-40B4-BE49-F238E27FC236}">
                <a16:creationId xmlns:a16="http://schemas.microsoft.com/office/drawing/2014/main" id="{CC2B5865-D720-7FF2-8C7F-11B0F1F79B6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90856F9-8BD9-0F7E-D2A8-C3F1E83CF473}"/>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2704945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54F8C-C565-174B-58D7-6599AD9B9BDC}"/>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01EC5CC-844C-A73C-27D2-E38FCBFF9B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38E984F-8303-EC2C-0E0C-27B26788599B}"/>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5" name="Footer Placeholder 4">
            <a:extLst>
              <a:ext uri="{FF2B5EF4-FFF2-40B4-BE49-F238E27FC236}">
                <a16:creationId xmlns:a16="http://schemas.microsoft.com/office/drawing/2014/main" id="{778D9AF7-5B46-5400-3313-8F95A95D85F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0032BBE-05BD-8C61-6EDF-E1586C29B93B}"/>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3196094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BC6D8A-A3B8-DD99-B871-83322296A1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D102C0C-DE32-56BE-D8E1-E7589C7EE7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13DBB1A-94AB-10D0-24D6-8A5034FB3CC4}"/>
              </a:ext>
            </a:extLst>
          </p:cNvPr>
          <p:cNvSpPr>
            <a:spLocks noGrp="1"/>
          </p:cNvSpPr>
          <p:nvPr>
            <p:ph type="dt" sz="half" idx="10"/>
          </p:nvPr>
        </p:nvSpPr>
        <p:spPr/>
        <p:txBody>
          <a:bodyPr/>
          <a:lstStyle/>
          <a:p>
            <a:fld id="{82E2202D-C9D9-4BB1-8D3F-BBC1F1AED88C}" type="datetimeFigureOut">
              <a:rPr lang="en-ZA" smtClean="0"/>
              <a:t>2026/08/17</a:t>
            </a:fld>
            <a:endParaRPr lang="en-ZA"/>
          </a:p>
        </p:txBody>
      </p:sp>
      <p:sp>
        <p:nvSpPr>
          <p:cNvPr id="5" name="Footer Placeholder 4">
            <a:extLst>
              <a:ext uri="{FF2B5EF4-FFF2-40B4-BE49-F238E27FC236}">
                <a16:creationId xmlns:a16="http://schemas.microsoft.com/office/drawing/2014/main" id="{30190D23-DD24-23F2-C274-434660BEF9F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53A5364-73E3-1DEB-77F0-0D388BBECAB5}"/>
              </a:ext>
            </a:extLst>
          </p:cNvPr>
          <p:cNvSpPr>
            <a:spLocks noGrp="1"/>
          </p:cNvSpPr>
          <p:nvPr>
            <p:ph type="sldNum" sz="quarter" idx="12"/>
          </p:nvPr>
        </p:nvSpPr>
        <p:spPr/>
        <p:txBody>
          <a:bodyPr/>
          <a:lstStyle/>
          <a:p>
            <a:fld id="{B8165176-6101-418B-96C8-A0B71BC2479E}" type="slidenum">
              <a:rPr lang="en-ZA" smtClean="0"/>
              <a:t>‹#›</a:t>
            </a:fld>
            <a:endParaRPr lang="en-ZA"/>
          </a:p>
        </p:txBody>
      </p:sp>
    </p:spTree>
    <p:extLst>
      <p:ext uri="{BB962C8B-B14F-4D97-AF65-F5344CB8AC3E}">
        <p14:creationId xmlns:p14="http://schemas.microsoft.com/office/powerpoint/2010/main" val="4262745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BC2390-2210-84E0-F542-9854B2A4D0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3313265-7DC0-58B6-82A6-8109BE878E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AFDCE68-112D-12BB-50D6-360D77D96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E2202D-C9D9-4BB1-8D3F-BBC1F1AED88C}" type="datetimeFigureOut">
              <a:rPr lang="en-ZA" smtClean="0"/>
              <a:t>2026/08/17</a:t>
            </a:fld>
            <a:endParaRPr lang="en-ZA"/>
          </a:p>
        </p:txBody>
      </p:sp>
      <p:sp>
        <p:nvSpPr>
          <p:cNvPr id="5" name="Footer Placeholder 4">
            <a:extLst>
              <a:ext uri="{FF2B5EF4-FFF2-40B4-BE49-F238E27FC236}">
                <a16:creationId xmlns:a16="http://schemas.microsoft.com/office/drawing/2014/main" id="{78E4F36D-AFFB-5890-1FB5-919B1E6415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E10C9CF0-3A43-3AAD-D063-C1EE309AA9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165176-6101-418B-96C8-A0B71BC2479E}" type="slidenum">
              <a:rPr lang="en-ZA" smtClean="0"/>
              <a:t>‹#›</a:t>
            </a:fld>
            <a:endParaRPr lang="en-ZA"/>
          </a:p>
        </p:txBody>
      </p:sp>
    </p:spTree>
    <p:extLst>
      <p:ext uri="{BB962C8B-B14F-4D97-AF65-F5344CB8AC3E}">
        <p14:creationId xmlns:p14="http://schemas.microsoft.com/office/powerpoint/2010/main" val="1021480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22F6364A-B358-4BEE-B158-0734D2C938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8202" y="1570814"/>
            <a:ext cx="0" cy="3710227"/>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5" name="Picture 4" descr="Bright TV Official (@brighttv) • Instagram photos and videos">
            <a:extLst>
              <a:ext uri="{FF2B5EF4-FFF2-40B4-BE49-F238E27FC236}">
                <a16:creationId xmlns:a16="http://schemas.microsoft.com/office/drawing/2014/main" id="{EDBFBCC8-5D76-D9F6-4F0E-B26BB2A1C02C}"/>
              </a:ext>
            </a:extLst>
          </p:cNvPr>
          <p:cNvPicPr>
            <a:picLocks noGrp="1" noRot="1" noChangeAspect="1" noMove="1" noResize="1" noEditPoints="1" noAdjustHandles="1" noChangeArrowheads="1" noChangeShapeType="1" noCrop="1"/>
          </p:cNvPicPr>
          <p:nvPr/>
        </p:nvPicPr>
        <p:blipFill>
          <a:blip r:embed="rId2"/>
          <a:stretch>
            <a:fillRect/>
          </a:stretch>
        </p:blipFill>
        <p:spPr>
          <a:xfrm>
            <a:off x="4061860" y="1123527"/>
            <a:ext cx="4604800" cy="4604800"/>
          </a:xfrm>
          <a:prstGeom prst="rect">
            <a:avLst/>
          </a:prstGeom>
        </p:spPr>
      </p:pic>
      <p:sp>
        <p:nvSpPr>
          <p:cNvPr id="6" name="TextBox 5">
            <a:extLst>
              <a:ext uri="{FF2B5EF4-FFF2-40B4-BE49-F238E27FC236}">
                <a16:creationId xmlns:a16="http://schemas.microsoft.com/office/drawing/2014/main" id="{20349CC6-F8AB-64B1-C450-8CCFBFEEFFA2}"/>
              </a:ext>
            </a:extLst>
          </p:cNvPr>
          <p:cNvSpPr txBox="1">
            <a:spLocks noGrp="1" noRot="1" noMove="1" noResize="1" noEditPoints="1" noAdjustHandles="1" noChangeArrowheads="1" noChangeShapeType="1"/>
          </p:cNvSpPr>
          <p:nvPr/>
        </p:nvSpPr>
        <p:spPr>
          <a:xfrm>
            <a:off x="718518" y="3102761"/>
            <a:ext cx="3019684" cy="646331"/>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PRESENTATION BY ANITHA POSWAYO</a:t>
            </a:r>
            <a:endParaRPr lang="en-ZA"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2495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6EF514E-8FAA-A3D9-608E-781EDFA9871E}"/>
              </a:ext>
            </a:extLst>
          </p:cNvPr>
          <p:cNvSpPr>
            <a:spLocks noGrp="1" noRot="1" noMove="1" noResize="1" noEditPoints="1" noAdjustHandles="1" noChangeArrowheads="1" noChangeShapeType="1"/>
          </p:cNvSpPr>
          <p:nvPr>
            <p:ph type="title"/>
          </p:nvPr>
        </p:nvSpPr>
        <p:spPr>
          <a:xfrm>
            <a:off x="838200" y="556995"/>
            <a:ext cx="10515600" cy="1133693"/>
          </a:xfrm>
        </p:spPr>
        <p:txBody>
          <a:bodyPr>
            <a:normAutofit/>
          </a:bodyPr>
          <a:lstStyle/>
          <a:p>
            <a:r>
              <a:rPr lang="en-US" sz="5200" dirty="0"/>
              <a:t>			About the Data</a:t>
            </a:r>
            <a:endParaRPr lang="en-ZA" sz="5200" dirty="0"/>
          </a:p>
        </p:txBody>
      </p:sp>
      <p:graphicFrame>
        <p:nvGraphicFramePr>
          <p:cNvPr id="7" name="Content Placeholder 4">
            <a:extLst>
              <a:ext uri="{FF2B5EF4-FFF2-40B4-BE49-F238E27FC236}">
                <a16:creationId xmlns:a16="http://schemas.microsoft.com/office/drawing/2014/main" id="{30BD15BD-EF3F-8046-8DF4-6E9A0D933782}"/>
              </a:ext>
            </a:extLst>
          </p:cNvPr>
          <p:cNvGraphicFramePr>
            <a:graphicFrameLocks noGrp="1"/>
          </p:cNvGraphicFramePr>
          <p:nvPr>
            <p:ph idx="1"/>
            <p:extLst>
              <p:ext uri="{D42A27DB-BD31-4B8C-83A1-F6EECF244321}">
                <p14:modId xmlns:p14="http://schemas.microsoft.com/office/powerpoint/2010/main" val="67330057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5070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FFBEE45-F140-49D5-85EA-C78C2434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9C776-7EE4-481A-3858-AD6CA1ADF2D6}"/>
              </a:ext>
            </a:extLst>
          </p:cNvPr>
          <p:cNvSpPr>
            <a:spLocks noGrp="1"/>
          </p:cNvSpPr>
          <p:nvPr>
            <p:ph type="title"/>
          </p:nvPr>
        </p:nvSpPr>
        <p:spPr>
          <a:xfrm>
            <a:off x="503958" y="1415972"/>
            <a:ext cx="3409951" cy="3449781"/>
          </a:xfrm>
        </p:spPr>
        <p:txBody>
          <a:bodyPr>
            <a:normAutofit/>
          </a:bodyPr>
          <a:lstStyle/>
          <a:p>
            <a:r>
              <a:rPr lang="en-US" sz="5200" dirty="0"/>
              <a:t>	</a:t>
            </a:r>
            <a:r>
              <a:rPr lang="en-US" sz="3600" dirty="0"/>
              <a:t>Insights</a:t>
            </a:r>
            <a:endParaRPr lang="en-ZA" sz="3600" dirty="0"/>
          </a:p>
        </p:txBody>
      </p:sp>
      <p:graphicFrame>
        <p:nvGraphicFramePr>
          <p:cNvPr id="33" name="Content Placeholder 2">
            <a:extLst>
              <a:ext uri="{FF2B5EF4-FFF2-40B4-BE49-F238E27FC236}">
                <a16:creationId xmlns:a16="http://schemas.microsoft.com/office/drawing/2014/main" id="{A30F6E57-3D8E-B383-BB9F-26087DA759B3}"/>
              </a:ext>
            </a:extLst>
          </p:cNvPr>
          <p:cNvGraphicFramePr>
            <a:graphicFrameLocks noGrp="1"/>
          </p:cNvGraphicFramePr>
          <p:nvPr>
            <p:ph sz="half" idx="1"/>
            <p:extLst>
              <p:ext uri="{D42A27DB-BD31-4B8C-83A1-F6EECF244321}">
                <p14:modId xmlns:p14="http://schemas.microsoft.com/office/powerpoint/2010/main" val="568376454"/>
              </p:ext>
            </p:extLst>
          </p:nvPr>
        </p:nvGraphicFramePr>
        <p:xfrm>
          <a:off x="4166755" y="187035"/>
          <a:ext cx="7772399" cy="6431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7022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5D8440-406C-11C2-9392-0D5A5B179CC9}"/>
              </a:ext>
            </a:extLst>
          </p:cNvPr>
          <p:cNvSpPr>
            <a:spLocks noGrp="1" noRot="1" noMove="1" noResize="1" noEditPoints="1" noAdjustHandles="1" noChangeArrowheads="1" noChangeShapeType="1"/>
          </p:cNvSpPr>
          <p:nvPr>
            <p:ph type="title"/>
          </p:nvPr>
        </p:nvSpPr>
        <p:spPr/>
        <p:txBody>
          <a:bodyPr/>
          <a:lstStyle/>
          <a:p>
            <a:r>
              <a:rPr lang="en-US" dirty="0"/>
              <a:t>		Viewership by each month</a:t>
            </a:r>
            <a:endParaRPr lang="en-ZA" dirty="0"/>
          </a:p>
        </p:txBody>
      </p:sp>
      <p:sp>
        <p:nvSpPr>
          <p:cNvPr id="9" name="Content Placeholder 8">
            <a:extLst>
              <a:ext uri="{FF2B5EF4-FFF2-40B4-BE49-F238E27FC236}">
                <a16:creationId xmlns:a16="http://schemas.microsoft.com/office/drawing/2014/main" id="{721CD5A1-61A3-F4F5-9596-2390EB9297F8}"/>
              </a:ext>
            </a:extLst>
          </p:cNvPr>
          <p:cNvSpPr>
            <a:spLocks noGrp="1" noRot="1" noMove="1" noResize="1" noEditPoints="1" noAdjustHandles="1" noChangeArrowheads="1" noChangeShapeType="1"/>
          </p:cNvSpPr>
          <p:nvPr>
            <p:ph sz="half" idx="2"/>
          </p:nvPr>
        </p:nvSpPr>
        <p:spPr/>
        <p:txBody>
          <a:bodyPr>
            <a:normAutofit/>
          </a:bodyPr>
          <a:lstStyle/>
          <a:p>
            <a:pPr>
              <a:lnSpc>
                <a:spcPct val="100000"/>
              </a:lnSpc>
            </a:pPr>
            <a:r>
              <a:rPr lang="en-US" sz="2000" dirty="0">
                <a:latin typeface="Arial" panose="020B0604020202020204" pitchFamily="34" charset="0"/>
                <a:cs typeface="Arial" panose="020B0604020202020204" pitchFamily="34" charset="0"/>
              </a:rPr>
              <a:t>The viewership show a significant increase from Jan – March 2026.	</a:t>
            </a:r>
          </a:p>
          <a:p>
            <a:pPr>
              <a:lnSpc>
                <a:spcPct val="100000"/>
              </a:lnSpc>
            </a:pPr>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Viewership increased by a 26% in March.</a:t>
            </a:r>
          </a:p>
          <a:p>
            <a:pPr>
              <a:lnSpc>
                <a:spcPct val="100000"/>
              </a:lnSpc>
            </a:pPr>
            <a:endParaRPr lang="en-US" sz="2000" dirty="0">
              <a:latin typeface="Arial" panose="020B0604020202020204" pitchFamily="34" charset="0"/>
              <a:cs typeface="Arial" panose="020B0604020202020204" pitchFamily="34" charset="0"/>
            </a:endParaRPr>
          </a:p>
          <a:p>
            <a:pPr>
              <a:lnSpc>
                <a:spcPct val="100000"/>
              </a:lnSpc>
            </a:pPr>
            <a:r>
              <a:rPr lang="en-ZA" sz="2000" dirty="0">
                <a:latin typeface="Arial" panose="020B0604020202020204" pitchFamily="34" charset="0"/>
                <a:cs typeface="Arial" panose="020B0604020202020204" pitchFamily="34" charset="0"/>
              </a:rPr>
              <a:t>Each Month shows improvement.</a:t>
            </a:r>
            <a:endParaRPr lang="en-US" sz="2000" dirty="0">
              <a:latin typeface="Arial" panose="020B0604020202020204" pitchFamily="34" charset="0"/>
              <a:cs typeface="Arial" panose="020B0604020202020204" pitchFamily="34" charset="0"/>
            </a:endParaRPr>
          </a:p>
        </p:txBody>
      </p:sp>
      <p:graphicFrame>
        <p:nvGraphicFramePr>
          <p:cNvPr id="10" name="Content Placeholder 9">
            <a:extLst>
              <a:ext uri="{FF2B5EF4-FFF2-40B4-BE49-F238E27FC236}">
                <a16:creationId xmlns:a16="http://schemas.microsoft.com/office/drawing/2014/main" id="{8368206C-6651-49F2-B8E0-4AB74F9D6F11}"/>
              </a:ext>
            </a:extLst>
          </p:cNvPr>
          <p:cNvGraphicFramePr>
            <a:graphicFrameLocks noGrp="1" noDrilldown="1" noMove="1" noResize="1"/>
          </p:cNvGraphicFramePr>
          <p:nvPr>
            <p:ph sz="half" idx="1"/>
            <p:extLst>
              <p:ext uri="{D42A27DB-BD31-4B8C-83A1-F6EECF244321}">
                <p14:modId xmlns:p14="http://schemas.microsoft.com/office/powerpoint/2010/main" val="346224360"/>
              </p:ext>
            </p:extLst>
          </p:nvPr>
        </p:nvGraphicFramePr>
        <p:xfrm>
          <a:off x="426027" y="1690688"/>
          <a:ext cx="5593773" cy="44862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40355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E53EA-AEF6-FBED-63B9-89348DD3DB76}"/>
              </a:ext>
            </a:extLst>
          </p:cNvPr>
          <p:cNvSpPr>
            <a:spLocks noGrp="1"/>
          </p:cNvSpPr>
          <p:nvPr>
            <p:ph type="title"/>
          </p:nvPr>
        </p:nvSpPr>
        <p:spPr/>
        <p:txBody>
          <a:bodyPr/>
          <a:lstStyle/>
          <a:p>
            <a:pPr algn="ctr"/>
            <a:r>
              <a:rPr lang="en-US" dirty="0"/>
              <a:t>Which Day Times have most viewer</a:t>
            </a:r>
            <a:endParaRPr lang="en-ZA" sz="3200" dirty="0"/>
          </a:p>
        </p:txBody>
      </p:sp>
      <p:sp>
        <p:nvSpPr>
          <p:cNvPr id="4" name="Content Placeholder 3">
            <a:extLst>
              <a:ext uri="{FF2B5EF4-FFF2-40B4-BE49-F238E27FC236}">
                <a16:creationId xmlns:a16="http://schemas.microsoft.com/office/drawing/2014/main" id="{5D109FDA-A04A-4799-9BC8-FE4464692F53}"/>
              </a:ext>
            </a:extLst>
          </p:cNvPr>
          <p:cNvSpPr>
            <a:spLocks noGrp="1"/>
          </p:cNvSpPr>
          <p:nvPr>
            <p:ph sz="half" idx="2"/>
          </p:nvPr>
        </p:nvSpPr>
        <p:spPr/>
        <p:txBody>
          <a:bodyPr>
            <a:normAutofit/>
          </a:bodyPr>
          <a:lstStyle/>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Afternoon leads viewership on the time of day by 32%, followed by Morning at 30%</a:t>
            </a: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Midnight has the lowest viewers – taking only 0,75%</a:t>
            </a:r>
            <a:endParaRPr lang="en-ZA" sz="2000" dirty="0">
              <a:latin typeface="Arial" panose="020B0604020202020204" pitchFamily="34" charset="0"/>
              <a:cs typeface="Arial" panose="020B0604020202020204" pitchFamily="34" charset="0"/>
            </a:endParaRPr>
          </a:p>
        </p:txBody>
      </p:sp>
      <p:graphicFrame>
        <p:nvGraphicFramePr>
          <p:cNvPr id="5" name="Content Placeholder 4">
            <a:extLst>
              <a:ext uri="{FF2B5EF4-FFF2-40B4-BE49-F238E27FC236}">
                <a16:creationId xmlns:a16="http://schemas.microsoft.com/office/drawing/2014/main" id="{338FE45A-57C8-41E1-A9BE-FBB27D81DCF3}"/>
              </a:ext>
            </a:extLst>
          </p:cNvPr>
          <p:cNvGraphicFramePr>
            <a:graphicFrameLocks noGrp="1"/>
          </p:cNvGraphicFramePr>
          <p:nvPr>
            <p:ph sz="half" idx="1"/>
            <p:extLst>
              <p:ext uri="{D42A27DB-BD31-4B8C-83A1-F6EECF244321}">
                <p14:modId xmlns:p14="http://schemas.microsoft.com/office/powerpoint/2010/main" val="1115241698"/>
              </p:ext>
            </p:extLst>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8330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783C8-6705-24A8-6986-3A5B712FDC8E}"/>
              </a:ext>
            </a:extLst>
          </p:cNvPr>
          <p:cNvSpPr>
            <a:spLocks noGrp="1"/>
          </p:cNvSpPr>
          <p:nvPr>
            <p:ph type="title"/>
          </p:nvPr>
        </p:nvSpPr>
        <p:spPr/>
        <p:txBody>
          <a:bodyPr>
            <a:normAutofit/>
          </a:bodyPr>
          <a:lstStyle/>
          <a:p>
            <a:pPr algn="ctr"/>
            <a:r>
              <a:rPr lang="en-US" sz="3600" dirty="0"/>
              <a:t>	</a:t>
            </a:r>
            <a:r>
              <a:rPr lang="en-US" dirty="0"/>
              <a:t>Comparing Females and Males viewership</a:t>
            </a:r>
            <a:endParaRPr lang="en-ZA" dirty="0"/>
          </a:p>
        </p:txBody>
      </p:sp>
      <p:sp>
        <p:nvSpPr>
          <p:cNvPr id="4" name="Content Placeholder 3">
            <a:extLst>
              <a:ext uri="{FF2B5EF4-FFF2-40B4-BE49-F238E27FC236}">
                <a16:creationId xmlns:a16="http://schemas.microsoft.com/office/drawing/2014/main" id="{7691B48E-DBA8-DB9B-FCE3-7D2001337C71}"/>
              </a:ext>
            </a:extLst>
          </p:cNvPr>
          <p:cNvSpPr>
            <a:spLocks noGrp="1"/>
          </p:cNvSpPr>
          <p:nvPr>
            <p:ph sz="half" idx="2"/>
          </p:nvPr>
        </p:nvSpPr>
        <p:spPr>
          <a:xfrm>
            <a:off x="7502236" y="1825625"/>
            <a:ext cx="3851564" cy="4351338"/>
          </a:xfrm>
        </p:spPr>
        <p:txBody>
          <a:bodyPr>
            <a:normAutofit lnSpcReduction="10000"/>
          </a:bodyPr>
          <a:lstStyle/>
          <a:p>
            <a:r>
              <a:rPr lang="en-US" sz="2000" dirty="0">
                <a:latin typeface="Arial" panose="020B0604020202020204" pitchFamily="34" charset="0"/>
                <a:cs typeface="Arial" panose="020B0604020202020204" pitchFamily="34" charset="0"/>
              </a:rPr>
              <a:t>Male make up 80% of the viewers. Dominating the viewership.</a:t>
            </a:r>
          </a:p>
          <a:p>
            <a:pPr marL="0" indent="0">
              <a:buNone/>
            </a:pP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38%  of that amount is black male.</a:t>
            </a:r>
          </a:p>
          <a:p>
            <a:pPr marL="0" indent="0">
              <a:buNone/>
            </a:pP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Female only contribute 8% in viewers</a:t>
            </a:r>
          </a:p>
          <a:p>
            <a:pPr marL="0" indent="0">
              <a:buNone/>
            </a:pPr>
            <a:endParaRPr lang="en-US" sz="2000" dirty="0">
              <a:latin typeface="Arial" panose="020B0604020202020204" pitchFamily="34" charset="0"/>
              <a:cs typeface="Arial" panose="020B0604020202020204" pitchFamily="34" charset="0"/>
            </a:endParaRPr>
          </a:p>
          <a:p>
            <a:r>
              <a:rPr lang="en-ZA" sz="2000" dirty="0">
                <a:latin typeface="Arial" panose="020B0604020202020204" pitchFamily="34" charset="0"/>
                <a:cs typeface="Arial" panose="020B0604020202020204" pitchFamily="34" charset="0"/>
              </a:rPr>
              <a:t>Black female are also leading viewership on the female side. With 5%</a:t>
            </a:r>
            <a:endParaRPr lang="en-US" sz="2000" dirty="0">
              <a:latin typeface="Arial" panose="020B0604020202020204" pitchFamily="34" charset="0"/>
              <a:cs typeface="Arial" panose="020B0604020202020204" pitchFamily="34" charset="0"/>
            </a:endParaRPr>
          </a:p>
        </p:txBody>
      </p:sp>
      <p:graphicFrame>
        <p:nvGraphicFramePr>
          <p:cNvPr id="8" name="Content Placeholder 7">
            <a:extLst>
              <a:ext uri="{FF2B5EF4-FFF2-40B4-BE49-F238E27FC236}">
                <a16:creationId xmlns:a16="http://schemas.microsoft.com/office/drawing/2014/main" id="{650C6672-C4A1-87E5-F965-5679D1984803}"/>
              </a:ext>
            </a:extLst>
          </p:cNvPr>
          <p:cNvGraphicFramePr>
            <a:graphicFrameLocks noGrp="1"/>
          </p:cNvGraphicFramePr>
          <p:nvPr>
            <p:ph sz="half" idx="1"/>
            <p:extLst>
              <p:ext uri="{D42A27DB-BD31-4B8C-83A1-F6EECF244321}">
                <p14:modId xmlns:p14="http://schemas.microsoft.com/office/powerpoint/2010/main" val="244737229"/>
              </p:ext>
            </p:extLst>
          </p:nvPr>
        </p:nvGraphicFramePr>
        <p:xfrm>
          <a:off x="838200" y="1825625"/>
          <a:ext cx="6549736"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93349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9373E4-9A8A-67CD-77CD-4B0248C8E449}"/>
              </a:ext>
            </a:extLst>
          </p:cNvPr>
          <p:cNvSpPr>
            <a:spLocks noGrp="1" noRot="1" noMove="1" noResize="1" noEditPoints="1" noAdjustHandles="1" noChangeArrowheads="1" noChangeShapeType="1"/>
          </p:cNvSpPr>
          <p:nvPr>
            <p:ph type="title"/>
          </p:nvPr>
        </p:nvSpPr>
        <p:spPr/>
        <p:txBody>
          <a:bodyPr>
            <a:normAutofit/>
          </a:bodyPr>
          <a:lstStyle/>
          <a:p>
            <a:pPr algn="ctr"/>
            <a:r>
              <a:rPr lang="en-US" sz="3200" dirty="0"/>
              <a:t>	</a:t>
            </a:r>
            <a:r>
              <a:rPr lang="en-US" dirty="0"/>
              <a:t>Comparing Viewership by Weekend VS Weekday</a:t>
            </a:r>
            <a:endParaRPr lang="en-ZA" dirty="0"/>
          </a:p>
        </p:txBody>
      </p:sp>
      <p:graphicFrame>
        <p:nvGraphicFramePr>
          <p:cNvPr id="4" name="Content Placeholder 3">
            <a:extLst>
              <a:ext uri="{FF2B5EF4-FFF2-40B4-BE49-F238E27FC236}">
                <a16:creationId xmlns:a16="http://schemas.microsoft.com/office/drawing/2014/main" id="{87A2A545-7C2F-4CFA-B9A7-224CA65008FB}"/>
              </a:ext>
            </a:extLst>
          </p:cNvPr>
          <p:cNvGraphicFramePr>
            <a:graphicFrameLocks noGrp="1"/>
          </p:cNvGraphicFramePr>
          <p:nvPr>
            <p:ph sz="half" idx="1"/>
            <p:extLst>
              <p:ext uri="{D42A27DB-BD31-4B8C-83A1-F6EECF244321}">
                <p14:modId xmlns:p14="http://schemas.microsoft.com/office/powerpoint/2010/main" val="126533406"/>
              </p:ext>
            </p:extLst>
          </p:nvPr>
        </p:nvGraphicFramePr>
        <p:xfrm>
          <a:off x="838200" y="1825625"/>
          <a:ext cx="60198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6" name="Content Placeholder 5">
            <a:extLst>
              <a:ext uri="{FF2B5EF4-FFF2-40B4-BE49-F238E27FC236}">
                <a16:creationId xmlns:a16="http://schemas.microsoft.com/office/drawing/2014/main" id="{04F1B7A5-9F7C-C96C-6EB8-BF8C74077849}"/>
              </a:ext>
            </a:extLst>
          </p:cNvPr>
          <p:cNvSpPr>
            <a:spLocks noGrp="1"/>
          </p:cNvSpPr>
          <p:nvPr>
            <p:ph sz="half" idx="2"/>
          </p:nvPr>
        </p:nvSpPr>
        <p:spPr>
          <a:xfrm>
            <a:off x="7190508" y="1825625"/>
            <a:ext cx="4163291" cy="4351338"/>
          </a:xfrm>
        </p:spPr>
        <p:txBody>
          <a:bodyPr>
            <a:normAutofit/>
          </a:bodyPr>
          <a:lstStyle/>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Most of Bright TV audience watch on Weekdays as compared to Weekend.</a:t>
            </a:r>
          </a:p>
          <a:p>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With weekdays leading with 69%, and weekend sitting at 31%</a:t>
            </a:r>
            <a:endParaRPr lang="en-Z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3776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67251-11DA-49F9-FD27-23BA488D4E23}"/>
              </a:ext>
            </a:extLst>
          </p:cNvPr>
          <p:cNvSpPr>
            <a:spLocks noGrp="1"/>
          </p:cNvSpPr>
          <p:nvPr>
            <p:ph type="title"/>
          </p:nvPr>
        </p:nvSpPr>
        <p:spPr>
          <a:xfrm>
            <a:off x="838200" y="365126"/>
            <a:ext cx="10515600" cy="1016866"/>
          </a:xfrm>
        </p:spPr>
        <p:txBody>
          <a:bodyPr>
            <a:noAutofit/>
          </a:bodyPr>
          <a:lstStyle/>
          <a:p>
            <a:pPr algn="ctr"/>
            <a:r>
              <a:rPr lang="en-US" dirty="0"/>
              <a:t>What TV channels are watched on What days? </a:t>
            </a:r>
            <a:endParaRPr lang="en-ZA" dirty="0"/>
          </a:p>
        </p:txBody>
      </p:sp>
      <p:sp>
        <p:nvSpPr>
          <p:cNvPr id="4" name="Content Placeholder 3">
            <a:extLst>
              <a:ext uri="{FF2B5EF4-FFF2-40B4-BE49-F238E27FC236}">
                <a16:creationId xmlns:a16="http://schemas.microsoft.com/office/drawing/2014/main" id="{1F3CC209-189A-B700-2798-14F2466E95DB}"/>
              </a:ext>
            </a:extLst>
          </p:cNvPr>
          <p:cNvSpPr>
            <a:spLocks noGrp="1"/>
          </p:cNvSpPr>
          <p:nvPr>
            <p:ph sz="half" idx="2"/>
          </p:nvPr>
        </p:nvSpPr>
        <p:spPr>
          <a:xfrm>
            <a:off x="7897090" y="1825625"/>
            <a:ext cx="3456709" cy="4351338"/>
          </a:xfrm>
        </p:spPr>
        <p:txBody>
          <a:bodyPr>
            <a:normAutofit/>
          </a:bodyPr>
          <a:lstStyle/>
          <a:p>
            <a:pPr>
              <a:lnSpc>
                <a:spcPct val="100000"/>
              </a:lnSpc>
            </a:pPr>
            <a:endParaRPr lang="en-US" sz="2200" dirty="0">
              <a:latin typeface="Arial" panose="020B0604020202020204" pitchFamily="34" charset="0"/>
              <a:cs typeface="Arial" panose="020B0604020202020204" pitchFamily="34" charset="0"/>
            </a:endParaRPr>
          </a:p>
          <a:p>
            <a:pPr>
              <a:lnSpc>
                <a:spcPct val="100000"/>
              </a:lnSpc>
            </a:pPr>
            <a:r>
              <a:rPr lang="en-US" sz="2200" dirty="0">
                <a:latin typeface="Arial" panose="020B0604020202020204" pitchFamily="34" charset="0"/>
                <a:cs typeface="Arial" panose="020B0604020202020204" pitchFamily="34" charset="0"/>
              </a:rPr>
              <a:t>Live Events lead in viewers on both weekends &amp; weekdays, followed by ICC Cricket World cup</a:t>
            </a:r>
          </a:p>
          <a:p>
            <a:pPr marL="0" indent="0">
              <a:lnSpc>
                <a:spcPct val="100000"/>
              </a:lnSpc>
              <a:buNone/>
            </a:pPr>
            <a:endParaRPr lang="en-US" sz="2200" dirty="0">
              <a:latin typeface="Arial" panose="020B0604020202020204" pitchFamily="34" charset="0"/>
              <a:cs typeface="Arial" panose="020B0604020202020204" pitchFamily="34" charset="0"/>
            </a:endParaRPr>
          </a:p>
          <a:p>
            <a:pPr>
              <a:lnSpc>
                <a:spcPct val="100000"/>
              </a:lnSpc>
            </a:pPr>
            <a:r>
              <a:rPr lang="en-US" sz="2200" dirty="0">
                <a:latin typeface="Arial" panose="020B0604020202020204" pitchFamily="34" charset="0"/>
                <a:cs typeface="Arial" panose="020B0604020202020204" pitchFamily="34" charset="0"/>
              </a:rPr>
              <a:t>Whereas Wimbledon has the lowest viewer, only on weekends </a:t>
            </a:r>
          </a:p>
          <a:p>
            <a:endParaRPr lang="en-ZA" dirty="0"/>
          </a:p>
        </p:txBody>
      </p:sp>
      <p:graphicFrame>
        <p:nvGraphicFramePr>
          <p:cNvPr id="9" name="Content Placeholder 8"/>
          <p:cNvGraphicFramePr>
            <a:graphicFrameLocks noGrp="1"/>
          </p:cNvGraphicFramePr>
          <p:nvPr>
            <p:ph sz="half" idx="1"/>
            <p:extLst>
              <p:ext uri="{D42A27DB-BD31-4B8C-83A1-F6EECF244321}">
                <p14:modId xmlns:p14="http://schemas.microsoft.com/office/powerpoint/2010/main" val="708161379"/>
              </p:ext>
            </p:extLst>
          </p:nvPr>
        </p:nvGraphicFramePr>
        <p:xfrm>
          <a:off x="354842" y="1514901"/>
          <a:ext cx="7356143" cy="48040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54981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4C38-4073-E79B-F2B2-4001AC7D4753}"/>
              </a:ext>
            </a:extLst>
          </p:cNvPr>
          <p:cNvSpPr>
            <a:spLocks noGrp="1"/>
          </p:cNvSpPr>
          <p:nvPr>
            <p:ph type="title"/>
          </p:nvPr>
        </p:nvSpPr>
        <p:spPr/>
        <p:txBody>
          <a:bodyPr>
            <a:normAutofit/>
          </a:bodyPr>
          <a:lstStyle/>
          <a:p>
            <a:pPr algn="ctr"/>
            <a:r>
              <a:rPr lang="en-US" dirty="0"/>
              <a:t>Where are Bright TV audience based?</a:t>
            </a:r>
            <a:endParaRPr lang="en-ZA" dirty="0"/>
          </a:p>
        </p:txBody>
      </p:sp>
      <p:sp>
        <p:nvSpPr>
          <p:cNvPr id="4" name="Content Placeholder 3">
            <a:extLst>
              <a:ext uri="{FF2B5EF4-FFF2-40B4-BE49-F238E27FC236}">
                <a16:creationId xmlns:a16="http://schemas.microsoft.com/office/drawing/2014/main" id="{55C9F6A0-5DDE-74D2-A4AC-9F6E7BB72B68}"/>
              </a:ext>
            </a:extLst>
          </p:cNvPr>
          <p:cNvSpPr>
            <a:spLocks noGrp="1"/>
          </p:cNvSpPr>
          <p:nvPr>
            <p:ph sz="half" idx="2"/>
          </p:nvPr>
        </p:nvSpPr>
        <p:spPr>
          <a:xfrm>
            <a:off x="8094518" y="1825625"/>
            <a:ext cx="3259282" cy="4351338"/>
          </a:xfrm>
        </p:spPr>
        <p:txBody>
          <a:bodyPr>
            <a:normAutofit lnSpcReduction="10000"/>
          </a:bodyPr>
          <a:lstStyle/>
          <a:p>
            <a:pPr>
              <a:lnSpc>
                <a:spcPct val="110000"/>
              </a:lnSpc>
            </a:pPr>
            <a:endParaRPr lang="en-US" sz="2400" dirty="0">
              <a:latin typeface="Arial" panose="020B0604020202020204" pitchFamily="34" charset="0"/>
              <a:cs typeface="Arial" panose="020B0604020202020204" pitchFamily="34" charset="0"/>
            </a:endParaRPr>
          </a:p>
          <a:p>
            <a:pPr>
              <a:lnSpc>
                <a:spcPct val="110000"/>
              </a:lnSpc>
            </a:pPr>
            <a:r>
              <a:rPr lang="en-US" sz="2400" dirty="0">
                <a:latin typeface="Arial" panose="020B0604020202020204" pitchFamily="34" charset="0"/>
                <a:cs typeface="Arial" panose="020B0604020202020204" pitchFamily="34" charset="0"/>
              </a:rPr>
              <a:t>Bright TV has the strongest audience in Gauteng – makes 36%.</a:t>
            </a:r>
          </a:p>
          <a:p>
            <a:pPr>
              <a:lnSpc>
                <a:spcPct val="110000"/>
              </a:lnSpc>
            </a:pPr>
            <a:r>
              <a:rPr lang="en-US" sz="2400" dirty="0">
                <a:latin typeface="Arial" panose="020B0604020202020204" pitchFamily="34" charset="0"/>
                <a:cs typeface="Arial" panose="020B0604020202020204" pitchFamily="34" charset="0"/>
              </a:rPr>
              <a:t>With the lowest audience in Northern Cape at 2.3%, followed by Free State at 3% </a:t>
            </a:r>
          </a:p>
          <a:p>
            <a:endParaRPr lang="en-US" dirty="0"/>
          </a:p>
          <a:p>
            <a:endParaRPr lang="en-ZA" dirty="0"/>
          </a:p>
        </p:txBody>
      </p:sp>
      <p:graphicFrame>
        <p:nvGraphicFramePr>
          <p:cNvPr id="8" name="Content Placeholder 7">
            <a:extLst>
              <a:ext uri="{FF2B5EF4-FFF2-40B4-BE49-F238E27FC236}">
                <a16:creationId xmlns:a16="http://schemas.microsoft.com/office/drawing/2014/main" id="{FCC75625-3C6F-4D17-9216-924B80F92544}"/>
              </a:ext>
            </a:extLst>
          </p:cNvPr>
          <p:cNvGraphicFramePr>
            <a:graphicFrameLocks noGrp="1"/>
          </p:cNvGraphicFramePr>
          <p:nvPr>
            <p:ph sz="half" idx="1"/>
            <p:extLst>
              <p:ext uri="{D42A27DB-BD31-4B8C-83A1-F6EECF244321}">
                <p14:modId xmlns:p14="http://schemas.microsoft.com/office/powerpoint/2010/main" val="2176209837"/>
              </p:ext>
            </p:extLst>
          </p:nvPr>
        </p:nvGraphicFramePr>
        <p:xfrm>
          <a:off x="838199" y="1825625"/>
          <a:ext cx="7152409"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44773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BACDC-DE35-F1F4-AB28-C8D19ADD3E34}"/>
              </a:ext>
            </a:extLst>
          </p:cNvPr>
          <p:cNvSpPr>
            <a:spLocks noGrp="1"/>
          </p:cNvSpPr>
          <p:nvPr>
            <p:ph type="title"/>
          </p:nvPr>
        </p:nvSpPr>
        <p:spPr/>
        <p:txBody>
          <a:bodyPr/>
          <a:lstStyle/>
          <a:p>
            <a:pPr algn="ctr"/>
            <a:r>
              <a:rPr lang="en-US" dirty="0"/>
              <a:t>		Recommendations</a:t>
            </a:r>
            <a:r>
              <a:rPr lang="en-US" sz="3600" dirty="0">
                <a:latin typeface="Arial" panose="020B0604020202020204" pitchFamily="34" charset="0"/>
                <a:cs typeface="Arial" panose="020B0604020202020204" pitchFamily="34" charset="0"/>
              </a:rPr>
              <a:t> </a:t>
            </a:r>
            <a:r>
              <a:rPr lang="en-US" dirty="0"/>
              <a:t>&amp; Conclusion </a:t>
            </a:r>
            <a:endParaRPr lang="en-ZA" dirty="0"/>
          </a:p>
        </p:txBody>
      </p:sp>
      <p:sp>
        <p:nvSpPr>
          <p:cNvPr id="3" name="Content Placeholder 2">
            <a:extLst>
              <a:ext uri="{FF2B5EF4-FFF2-40B4-BE49-F238E27FC236}">
                <a16:creationId xmlns:a16="http://schemas.microsoft.com/office/drawing/2014/main" id="{62009872-DEF3-665F-C184-91AC6589E2D9}"/>
              </a:ext>
            </a:extLst>
          </p:cNvPr>
          <p:cNvSpPr>
            <a:spLocks noGrp="1"/>
          </p:cNvSpPr>
          <p:nvPr>
            <p:ph idx="1"/>
          </p:nvPr>
        </p:nvSpPr>
        <p:spPr/>
        <p:txBody>
          <a:bodyPr>
            <a:normAutofit/>
          </a:bodyPr>
          <a:lstStyle/>
          <a:p>
            <a:pPr marL="0" indent="0">
              <a:buNone/>
            </a:pPr>
            <a:endParaRPr lang="en-ZA" sz="1800" dirty="0">
              <a:latin typeface="Arial" panose="020B0604020202020204" pitchFamily="34" charset="0"/>
              <a:cs typeface="Arial" panose="020B0604020202020204" pitchFamily="34" charset="0"/>
            </a:endParaRPr>
          </a:p>
          <a:p>
            <a:r>
              <a:rPr lang="en-ZA" sz="1800" dirty="0">
                <a:latin typeface="Arial" panose="020B0604020202020204" pitchFamily="34" charset="0"/>
                <a:cs typeface="Arial" panose="020B0604020202020204" pitchFamily="34" charset="0"/>
              </a:rPr>
              <a:t>Bright TV could experiment with youth-focused and entertainment-driven content on lower-performing days, particularly weekends. Since youth represent 57% of viewership.</a:t>
            </a:r>
          </a:p>
          <a:p>
            <a:endParaRPr lang="en-ZA" sz="1800" dirty="0">
              <a:latin typeface="Arial" panose="020B0604020202020204" pitchFamily="34" charset="0"/>
              <a:cs typeface="Arial" panose="020B0604020202020204" pitchFamily="34" charset="0"/>
            </a:endParaRPr>
          </a:p>
          <a:p>
            <a:r>
              <a:rPr lang="en-ZA" sz="1800" dirty="0">
                <a:latin typeface="Arial" panose="020B0604020202020204" pitchFamily="34" charset="0"/>
                <a:cs typeface="Arial" panose="020B0604020202020204" pitchFamily="34" charset="0"/>
              </a:rPr>
              <a:t>Bright TV could focus on targeted digital and social media and email campaigns, partnerships with youth and female-focused influencers and creators, and referral or rewards programmes to attract new users. Campaigns could also target underrepresented audiences, particularly female viewers, to broaden the user base.</a:t>
            </a:r>
          </a:p>
          <a:p>
            <a:r>
              <a:rPr lang="en-ZA" sz="1800" dirty="0">
                <a:latin typeface="Arial" panose="020B0604020202020204" pitchFamily="34" charset="0"/>
                <a:cs typeface="Arial" panose="020B0604020202020204" pitchFamily="34" charset="0"/>
              </a:rPr>
              <a:t>AS consumption appears to be influenced by time of day, day of the week and audience demographics. Viewership is strongest during weekdays and afternoons, with youth audiences and male viewers making up a significant portion of the audience. Geographic location also plays a role, with Johannesburg having the highest viewership.</a:t>
            </a:r>
          </a:p>
          <a:p>
            <a:endParaRPr lang="en-Z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2581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2107</TotalTime>
  <Words>581</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   About the Data</vt:lpstr>
      <vt:lpstr> Insights</vt:lpstr>
      <vt:lpstr>  Viewership by each month</vt:lpstr>
      <vt:lpstr>Which Day Times have most viewer</vt:lpstr>
      <vt:lpstr> Comparing Females and Males viewership</vt:lpstr>
      <vt:lpstr> Comparing Viewership by Weekend VS Weekday</vt:lpstr>
      <vt:lpstr>What TV channels are watched on What days? </vt:lpstr>
      <vt:lpstr>Where are Bright TV audience based?</vt:lpstr>
      <vt:lpstr>  Recommendations &amp;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Anitha Poswayo</dc:creator>
  <cp:lastModifiedBy>Anitha Poswayo</cp:lastModifiedBy>
  <cp:revision>9</cp:revision>
  <dcterms:created xsi:type="dcterms:W3CDTF">2026-08-10T17:09:13Z</dcterms:created>
  <dcterms:modified xsi:type="dcterms:W3CDTF">2026-08-17T16:59:12Z</dcterms:modified>
</cp:coreProperties>
</file>